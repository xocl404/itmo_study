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Анализ функциональной и информационной архитектуры ИС на соответствие модели объекта автоматизации"/>
          <p:cNvSpPr txBox="1"/>
          <p:nvPr>
            <p:ph type="ctrTitle"/>
          </p:nvPr>
        </p:nvSpPr>
        <p:spPr>
          <a:xfrm>
            <a:off x="1777999" y="1064067"/>
            <a:ext cx="20828001" cy="2631400"/>
          </a:xfrm>
          <a:prstGeom prst="rect">
            <a:avLst/>
          </a:prstGeom>
        </p:spPr>
        <p:txBody>
          <a:bodyPr/>
          <a:lstStyle>
            <a:lvl1pPr defTabSz="404495">
              <a:defRPr sz="5488"/>
            </a:lvl1pPr>
          </a:lstStyle>
          <a:p>
            <a:pPr/>
            <a:r>
              <a:t>Анализ функциональной и информационной архитектуры ИС на соответствие модели объекта автоматизации </a:t>
            </a:r>
          </a:p>
        </p:txBody>
      </p:sp>
      <p:sp>
        <p:nvSpPr>
          <p:cNvPr id="120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1" name="Управление производственным предприятием…"/>
          <p:cNvSpPr txBox="1"/>
          <p:nvPr>
            <p:ph type="subTitle" idx="1"/>
          </p:nvPr>
        </p:nvSpPr>
        <p:spPr>
          <a:xfrm>
            <a:off x="1778000" y="5530608"/>
            <a:ext cx="21027269" cy="7104438"/>
          </a:xfrm>
          <a:prstGeom prst="rect">
            <a:avLst/>
          </a:prstGeom>
        </p:spPr>
        <p:txBody>
          <a:bodyPr/>
          <a:lstStyle/>
          <a:p>
            <a:pPr/>
            <a:r>
              <a:t>Управление производственным предприятием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 algn="l">
              <a:spcBef>
                <a:spcPts val="4500"/>
              </a:spcBef>
              <a:defRPr sz="3800"/>
            </a:pPr>
            <a:br/>
            <a:r>
              <a:t>Сидякин Ярослав</a:t>
            </a:r>
            <a:br/>
            <a:r>
              <a:t>Ануфриев Константин</a:t>
            </a:r>
            <a:br/>
            <a:r>
              <a:t>Агаев Эльдар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Цели и задачи"/>
          <p:cNvSpPr txBox="1"/>
          <p:nvPr>
            <p:ph type="title" idx="4294967295"/>
          </p:nvPr>
        </p:nvSpPr>
        <p:spPr>
          <a:xfrm>
            <a:off x="1689100" y="355600"/>
            <a:ext cx="20777704" cy="1043805"/>
          </a:xfrm>
          <a:prstGeom prst="rect">
            <a:avLst/>
          </a:prstGeom>
        </p:spPr>
        <p:txBody>
          <a:bodyPr/>
          <a:lstStyle>
            <a:lvl1pPr defTabSz="602615">
              <a:defRPr sz="6132"/>
            </a:lvl1pPr>
          </a:lstStyle>
          <a:p>
            <a:pPr/>
            <a:r>
              <a:t>Цели и задачи</a:t>
            </a:r>
          </a:p>
        </p:txBody>
      </p:sp>
      <p:sp>
        <p:nvSpPr>
          <p:cNvPr id="124" name="Целью лабораторной работы являлась оценка того, насколько функциональные возможности и информационная архитектура информационной системы соответствуют требованиям бизнес-процессов объекта автоматизации.…"/>
          <p:cNvSpPr txBox="1"/>
          <p:nvPr>
            <p:ph type="body" idx="4294967295"/>
          </p:nvPr>
        </p:nvSpPr>
        <p:spPr>
          <a:xfrm>
            <a:off x="853003" y="2034404"/>
            <a:ext cx="22449898" cy="10411596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rPr b="1"/>
              <a:t>Целью лабораторной работы</a:t>
            </a:r>
            <a:r>
              <a:t> являлась оценка того, насколько функциональные возможности и информационная архитектура информационной системы соответствуют требованиям бизнес-процессов объекта автоматизации.</a:t>
            </a:r>
          </a:p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Для достижения цели были поставлены следующие </a:t>
            </a:r>
            <a:r>
              <a:rPr b="1"/>
              <a:t>задачи</a:t>
            </a:r>
            <a:r>
              <a:t>:</a:t>
            </a:r>
          </a:p>
          <a:p>
            <a:pPr marL="502708" indent="-502708">
              <a:spcBef>
                <a:spcPts val="4100"/>
              </a:spcBef>
              <a:defRPr sz="3800"/>
            </a:pPr>
            <a:r>
              <a:t>проанализировать модель объекта автоматизации;</a:t>
            </a:r>
          </a:p>
          <a:p>
            <a:pPr marL="502708" indent="-502708">
              <a:spcBef>
                <a:spcPts val="4100"/>
              </a:spcBef>
              <a:defRPr sz="3800"/>
            </a:pPr>
            <a:r>
              <a:t>выделить операции, подлежащие автоматизации;</a:t>
            </a:r>
          </a:p>
          <a:p>
            <a:pPr marL="502708" indent="-502708">
              <a:spcBef>
                <a:spcPts val="4100"/>
              </a:spcBef>
              <a:defRPr sz="3800"/>
            </a:pPr>
            <a:r>
              <a:t>сопоставить операции бизнес-процессов с функциональными компонентами ИС;</a:t>
            </a:r>
          </a:p>
          <a:p>
            <a:pPr marL="502708" indent="-502708">
              <a:spcBef>
                <a:spcPts val="4100"/>
              </a:spcBef>
              <a:defRPr sz="3800"/>
            </a:pPr>
            <a:r>
              <a:t>определить необходимые информационные объекты;</a:t>
            </a:r>
          </a:p>
          <a:p>
            <a:pPr marL="502708" indent="-502708">
              <a:spcBef>
                <a:spcPts val="4100"/>
              </a:spcBef>
              <a:defRPr sz="3800"/>
            </a:pPr>
            <a:r>
              <a:t>оценить необходимость доработки или расширения стандартных средств системы. </a:t>
            </a:r>
          </a:p>
        </p:txBody>
      </p:sp>
      <p:sp>
        <p:nvSpPr>
          <p:cNvPr id="125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Краткая характеристика объекта автоматизации"/>
          <p:cNvSpPr txBox="1"/>
          <p:nvPr>
            <p:ph type="title" idx="4294967295"/>
          </p:nvPr>
        </p:nvSpPr>
        <p:spPr>
          <a:xfrm>
            <a:off x="1689100" y="355599"/>
            <a:ext cx="20907044" cy="1005662"/>
          </a:xfrm>
          <a:prstGeom prst="rect">
            <a:avLst/>
          </a:prstGeom>
        </p:spPr>
        <p:txBody>
          <a:bodyPr/>
          <a:lstStyle>
            <a:lvl1pPr defTabSz="577850">
              <a:defRPr sz="5880"/>
            </a:lvl1pPr>
          </a:lstStyle>
          <a:p>
            <a:pPr/>
            <a:r>
              <a:t>Краткая характеристика объекта автоматизации</a:t>
            </a:r>
          </a:p>
        </p:txBody>
      </p:sp>
      <p:sp>
        <p:nvSpPr>
          <p:cNvPr id="128" name="Объектом автоматизации является крупное машиностроительное предприятие с численностью персонала порядка 2000 человек.…"/>
          <p:cNvSpPr txBox="1"/>
          <p:nvPr>
            <p:ph type="body" idx="4294967295"/>
          </p:nvPr>
        </p:nvSpPr>
        <p:spPr>
          <a:xfrm>
            <a:off x="933019" y="1996260"/>
            <a:ext cx="22517962" cy="10449740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Объектом автоматизации является </a:t>
            </a:r>
            <a:r>
              <a:rPr b="1"/>
              <a:t>крупное машиностроительное предприятие</a:t>
            </a:r>
            <a:r>
              <a:t> с численностью персонала порядка 2000 человек.</a:t>
            </a:r>
          </a:p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В процессах планирования и управления производством участвуют следующие </a:t>
            </a:r>
            <a:r>
              <a:rPr b="1"/>
              <a:t>подразделения</a:t>
            </a:r>
            <a:r>
              <a:t>: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02708" indent="-502708">
              <a:spcBef>
                <a:spcPts val="1700"/>
              </a:spcBef>
              <a:defRPr sz="3800"/>
            </a:pPr>
            <a:r>
              <a:t>служба продаж;</a:t>
            </a:r>
          </a:p>
          <a:p>
            <a:pPr marL="502708" indent="-502708">
              <a:spcBef>
                <a:spcPts val="1700"/>
              </a:spcBef>
              <a:defRPr sz="3800"/>
            </a:pPr>
            <a:r>
              <a:t>управление планированием производственной деятельности;</a:t>
            </a:r>
          </a:p>
          <a:p>
            <a:pPr marL="502708" indent="-502708">
              <a:spcBef>
                <a:spcPts val="1700"/>
              </a:spcBef>
              <a:defRPr sz="3800"/>
            </a:pPr>
            <a:r>
              <a:t>служба технического директора;</a:t>
            </a:r>
          </a:p>
          <a:p>
            <a:pPr marL="502708" indent="-502708">
              <a:spcBef>
                <a:spcPts val="1700"/>
              </a:spcBef>
              <a:defRPr sz="3800"/>
            </a:pPr>
            <a:r>
              <a:t>управление материально-технического снабжения;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02708" indent="-502708">
              <a:spcBef>
                <a:spcPts val="1700"/>
              </a:spcBef>
              <a:defRPr sz="3800"/>
            </a:pPr>
            <a:r>
              <a:t>производственные подразделения.</a:t>
            </a:r>
          </a:p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Ключевыми </a:t>
            </a:r>
            <a:r>
              <a:rPr b="1"/>
              <a:t>рассматриваемыми процессами</a:t>
            </a:r>
            <a:r>
              <a:t> являются: </a:t>
            </a:r>
          </a:p>
          <a:p>
            <a:pPr marL="502708" indent="-502708">
              <a:spcBef>
                <a:spcPts val="1700"/>
              </a:spcBef>
              <a:defRPr sz="3800"/>
            </a:pPr>
            <a:r>
              <a:t>годовое планирование продаж, производства и закупок;</a:t>
            </a:r>
          </a:p>
          <a:p>
            <a:pPr marL="502708" indent="-502708">
              <a:spcBef>
                <a:spcPts val="1700"/>
              </a:spcBef>
              <a:defRPr sz="3800"/>
            </a:pPr>
            <a:r>
              <a:t>ежемесячное планирование и обеспечение производства;</a:t>
            </a:r>
          </a:p>
          <a:p>
            <a:pPr marL="502708" indent="-502708">
              <a:spcBef>
                <a:spcPts val="1700"/>
              </a:spcBef>
              <a:defRPr sz="3800"/>
            </a:pPr>
            <a:r>
              <a:t>контроль хода производства и анализ выполнения планов. </a:t>
            </a:r>
          </a:p>
        </p:txBody>
      </p:sp>
      <p:sp>
        <p:nvSpPr>
          <p:cNvPr id="129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2" name="Критерии выделения процессов:…"/>
          <p:cNvSpPr txBox="1"/>
          <p:nvPr>
            <p:ph type="body" idx="4294967295"/>
          </p:nvPr>
        </p:nvSpPr>
        <p:spPr>
          <a:xfrm>
            <a:off x="843139" y="2407402"/>
            <a:ext cx="22697722" cy="10038598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rPr b="1"/>
              <a:t>Критерии</a:t>
            </a:r>
            <a:r>
              <a:t> выделения процессов: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уровень планирования (стратегический, тактический, оперативный);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состав участников и подразделений;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используемые данные и информационные объекты;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временной горизонт выполнения операций. </a:t>
            </a:r>
          </a:p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Какие </a:t>
            </a:r>
            <a:r>
              <a:rPr b="1"/>
              <a:t>процессы</a:t>
            </a:r>
            <a:r>
              <a:t> получилось выделить: </a:t>
            </a:r>
          </a:p>
          <a:p>
            <a:pPr marL="703791" indent="-703791">
              <a:spcBef>
                <a:spcPts val="3500"/>
              </a:spcBef>
              <a:buSzPct val="100000"/>
              <a:buAutoNum type="arabicPeriod" startAt="1"/>
              <a:defRPr sz="3800"/>
            </a:pPr>
            <a:r>
              <a:t>Годовое планирование;</a:t>
            </a:r>
          </a:p>
          <a:p>
            <a:pPr marL="703791" indent="-703791">
              <a:spcBef>
                <a:spcPts val="3500"/>
              </a:spcBef>
              <a:buSzPct val="100000"/>
              <a:buAutoNum type="arabicPeriod" startAt="1"/>
              <a:defRPr sz="3800"/>
            </a:pPr>
            <a:r>
              <a:t>Ежемесячное планирование и обеспечение производства; </a:t>
            </a:r>
          </a:p>
          <a:p>
            <a:pPr marL="703791" indent="-703791">
              <a:spcBef>
                <a:spcPts val="3500"/>
              </a:spcBef>
              <a:buSzPct val="100000"/>
              <a:buAutoNum type="arabicPeriod" startAt="1"/>
              <a:defRPr sz="3800"/>
            </a:pPr>
            <a:r>
              <a:t>Производство, контроль и анализ. </a:t>
            </a:r>
          </a:p>
        </p:txBody>
      </p:sp>
      <p:sp>
        <p:nvSpPr>
          <p:cNvPr id="133" name="Выделение процессов из модели объекта автоматизации"/>
          <p:cNvSpPr txBox="1"/>
          <p:nvPr>
            <p:ph type="title" idx="4294967295"/>
          </p:nvPr>
        </p:nvSpPr>
        <p:spPr>
          <a:xfrm>
            <a:off x="1689100" y="355600"/>
            <a:ext cx="21005801" cy="1416803"/>
          </a:xfrm>
          <a:prstGeom prst="rect">
            <a:avLst/>
          </a:prstGeom>
        </p:spPr>
        <p:txBody>
          <a:bodyPr/>
          <a:lstStyle>
            <a:lvl1pPr defTabSz="561340">
              <a:defRPr sz="5712"/>
            </a:lvl1pPr>
          </a:lstStyle>
          <a:p>
            <a:pPr/>
            <a:r>
              <a:t>Выделение процессов из модели объекта автоматизации </a:t>
            </a:r>
            <a:endParaRPr sz="816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Результаты выполнения задания 1…"/>
          <p:cNvSpPr txBox="1"/>
          <p:nvPr>
            <p:ph type="title" idx="4294967295"/>
          </p:nvPr>
        </p:nvSpPr>
        <p:spPr>
          <a:xfrm>
            <a:off x="1689100" y="355599"/>
            <a:ext cx="21005800" cy="1718666"/>
          </a:xfrm>
          <a:prstGeom prst="rect">
            <a:avLst/>
          </a:prstGeom>
        </p:spPr>
        <p:txBody>
          <a:bodyPr/>
          <a:lstStyle/>
          <a:p>
            <a:pPr defTabSz="511809">
              <a:defRPr sz="5208"/>
            </a:pPr>
            <a:r>
              <a:t>Результаты выполнения задания 1</a:t>
            </a:r>
          </a:p>
          <a:p>
            <a:pPr defTabSz="511809">
              <a:defRPr sz="5208"/>
            </a:pPr>
            <a:r>
              <a:t>Годовое планирование</a:t>
            </a:r>
          </a:p>
        </p:txBody>
      </p:sp>
      <p:sp>
        <p:nvSpPr>
          <p:cNvPr id="136" name="На этапе годового планирования автоматизируются:…"/>
          <p:cNvSpPr txBox="1"/>
          <p:nvPr>
            <p:ph type="body" idx="4294967295"/>
          </p:nvPr>
        </p:nvSpPr>
        <p:spPr>
          <a:xfrm>
            <a:off x="937073" y="2709264"/>
            <a:ext cx="22509854" cy="9736737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На этапе годового планирования автоматизируются: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02708" indent="-502708">
              <a:spcBef>
                <a:spcPts val="2500"/>
              </a:spcBef>
              <a:defRPr sz="3800"/>
            </a:pPr>
            <a:r>
              <a:t>формирование плана продаж;</a:t>
            </a:r>
          </a:p>
          <a:p>
            <a:pPr marL="502708" indent="-502708">
              <a:spcBef>
                <a:spcPts val="2500"/>
              </a:spcBef>
              <a:defRPr sz="3800"/>
            </a:pPr>
            <a:r>
              <a:t>формирование плана производства;</a:t>
            </a:r>
          </a:p>
          <a:p>
            <a:pPr marL="502708" indent="-502708">
              <a:spcBef>
                <a:spcPts val="2500"/>
              </a:spcBef>
              <a:defRPr sz="3800"/>
            </a:pPr>
            <a:r>
              <a:t>разузлование изделий по спецификациям;</a:t>
            </a:r>
          </a:p>
          <a:p>
            <a:pPr marL="502708" indent="-502708">
              <a:spcBef>
                <a:spcPts val="2500"/>
              </a:spcBef>
              <a:defRPr sz="3800"/>
            </a:pPr>
            <a:r>
              <a:t>расчёт дат запуска и выпуска продукции;</a:t>
            </a:r>
          </a:p>
          <a:p>
            <a:pPr marL="502708" indent="-502708">
              <a:spcBef>
                <a:spcPts val="2500"/>
              </a:spcBef>
              <a:defRPr sz="3800"/>
            </a:pPr>
            <a:r>
              <a:t>формирование потребностей в материалах и ПКИ;</a:t>
            </a:r>
          </a:p>
          <a:p>
            <a:pPr marL="502708" indent="-502708">
              <a:spcBef>
                <a:spcPts val="2500"/>
              </a:spcBef>
              <a:defRPr sz="3800"/>
            </a:pPr>
            <a:r>
              <a:t>формирование плана закупок и заказов поставщикам;</a:t>
            </a:r>
          </a:p>
          <a:p>
            <a:pPr marL="502708" indent="-502708">
              <a:spcBef>
                <a:spcPts val="2500"/>
              </a:spcBef>
              <a:defRPr sz="3800"/>
            </a:pPr>
            <a:r>
              <a:t>процессы согласования и утверждения планов.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Для этих операций используются стандартные документы и механизмы системы, такие как </a:t>
            </a:r>
            <a:r>
              <a:rPr b="1"/>
              <a:t>«План продаж»</a:t>
            </a:r>
            <a:r>
              <a:t>, </a:t>
            </a:r>
            <a:r>
              <a:rPr b="1"/>
              <a:t>«План производства»</a:t>
            </a:r>
            <a:r>
              <a:t>, спецификации номенклатуры и документы снабжения.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37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Table 1"/>
          <p:cNvGraphicFramePr/>
          <p:nvPr/>
        </p:nvGraphicFramePr>
        <p:xfrm>
          <a:off x="3014392" y="1193997"/>
          <a:ext cx="18355216" cy="1132800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9177607"/>
                <a:gridCol w="9177607"/>
              </a:tblGrid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Операции, которые требуют автоматизации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Функциональный компонент ИС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проекта плана продаж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продаж», справочник «Номенклатура»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Внесение планируемых (неподтверждённых) продаж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продаж» (ручное редактирование)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Указание кастомизации изделия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Характеристики номенклатуры, спецификации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Передача плана продаж в УППД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Статусы документа, бизнес-процесс согласования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проекта плана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производства»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Разузлование изделия по спецификации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Спецификации номенклатуры, механизм разузлования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Расчёт дат запуска и выпуска продукции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 производства, нормативы длительности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потребностей в материалах и ПКИ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Механизм расчёта потребностей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Проверка обеспеченности потребностей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Остатки складов, отчёты обеспеченности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Корректировка плана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производства» (версии, изменения)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плана закупок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закупок»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заказов поставщикам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«Заказ поставщику»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809143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Утверждение плана продаж и плана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Бизнес-процессы согласования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40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3" name="В рамках ежемесячного планирования автоматизируются:…"/>
          <p:cNvSpPr txBox="1"/>
          <p:nvPr>
            <p:ph type="body" idx="4294967295"/>
          </p:nvPr>
        </p:nvSpPr>
        <p:spPr>
          <a:xfrm>
            <a:off x="869664" y="2680218"/>
            <a:ext cx="22644672" cy="9765782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В рамках ежемесячного планирования автоматизируются: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02708" indent="-502708">
              <a:spcBef>
                <a:spcPts val="3500"/>
              </a:spcBef>
              <a:defRPr sz="3800"/>
            </a:pPr>
            <a:r>
              <a:t>формирование заказов на производство;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расчёт сроков запуска и выпуска продукции;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резервирование материалов и комплектующих;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формирование комплектовочных ведомостей;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формирование производственной программы;</a:t>
            </a:r>
          </a:p>
          <a:p>
            <a:pPr marL="502708" indent="-502708">
              <a:spcBef>
                <a:spcPts val="3500"/>
              </a:spcBef>
              <a:defRPr sz="3800"/>
            </a:pPr>
            <a:r>
              <a:t>планирование загрузки рабочих центров.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>
              <a:spcBef>
                <a:spcPts val="4500"/>
              </a:spcBef>
              <a:buSzTx/>
              <a:buNone/>
              <a:defRPr sz="3800"/>
            </a:pPr>
            <a:r>
              <a:t>Ключевым функциональным компонентом является документ </a:t>
            </a:r>
            <a:r>
              <a:rPr b="1"/>
              <a:t>«Заказ на производство»</a:t>
            </a:r>
            <a:r>
              <a:t>, а также механизмы расчёта потребностей и резервирования запасов.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44" name="Результаты выполнения задания 1…"/>
          <p:cNvSpPr txBox="1"/>
          <p:nvPr>
            <p:ph type="title" idx="4294967295"/>
          </p:nvPr>
        </p:nvSpPr>
        <p:spPr>
          <a:xfrm>
            <a:off x="1689100" y="355600"/>
            <a:ext cx="21012377" cy="1689619"/>
          </a:xfrm>
          <a:prstGeom prst="rect">
            <a:avLst/>
          </a:prstGeom>
        </p:spPr>
        <p:txBody>
          <a:bodyPr/>
          <a:lstStyle/>
          <a:p>
            <a:pPr defTabSz="503555">
              <a:defRPr sz="5124"/>
            </a:pPr>
            <a:r>
              <a:t>Результаты выполнения задания 1</a:t>
            </a:r>
          </a:p>
          <a:p>
            <a:pPr defTabSz="503555">
              <a:defRPr sz="5124"/>
            </a:pPr>
            <a:r>
              <a:t>Ежемесячное планирование и обеспечение производства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Table 1"/>
          <p:cNvGraphicFramePr/>
          <p:nvPr/>
        </p:nvGraphicFramePr>
        <p:xfrm>
          <a:off x="2614042" y="1633044"/>
          <a:ext cx="19155916" cy="104499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9577957"/>
                <a:gridCol w="9577957"/>
              </a:tblGrid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Операции, которые требуют автоматизации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Функциональный компонент ИС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заказов на производство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«Заказ на производство»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Автоматический расчёт дат запуска и выпуска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Заполнение заказа по данным плана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структуры заказа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Заказ на производство, спецификации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потребностей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Механизм учёта потребностей заказов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Резервирование материалов и ПКИ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Механизм резервирования запасов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комплектовочной ведомости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 «Комплектовочная ведомость»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производственной программы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Производственная программа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Планирование загрузки рабочих центров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Рабочие центры, графики работы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04499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Оценка выполнимости плана по мощностям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Анализ загрузки рабочих центров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47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Number"/>
          <p:cNvSpPr txBox="1"/>
          <p:nvPr>
            <p:ph type="sldNum" sz="quarter" idx="4294967295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0" name="Результаты выполнения задания 1…"/>
          <p:cNvSpPr txBox="1"/>
          <p:nvPr>
            <p:ph type="title" idx="4294967295"/>
          </p:nvPr>
        </p:nvSpPr>
        <p:spPr>
          <a:xfrm>
            <a:off x="1689100" y="355600"/>
            <a:ext cx="21005800" cy="1681508"/>
          </a:xfrm>
          <a:prstGeom prst="rect">
            <a:avLst/>
          </a:prstGeom>
        </p:spPr>
        <p:txBody>
          <a:bodyPr/>
          <a:lstStyle/>
          <a:p>
            <a:pPr defTabSz="503555">
              <a:defRPr sz="5124"/>
            </a:pPr>
            <a:r>
              <a:t>Результаты выполнения задания 1</a:t>
            </a:r>
          </a:p>
          <a:p>
            <a:pPr defTabSz="503555">
              <a:defRPr sz="5124"/>
            </a:pPr>
            <a:r>
              <a:t>Производство, контроль и анализ</a:t>
            </a:r>
          </a:p>
        </p:txBody>
      </p:sp>
      <p:sp>
        <p:nvSpPr>
          <p:cNvPr id="151" name="На этапе производства и контроля система обеспечивает:…"/>
          <p:cNvSpPr txBox="1"/>
          <p:nvPr>
            <p:ph type="body" idx="4294967295"/>
          </p:nvPr>
        </p:nvSpPr>
        <p:spPr>
          <a:xfrm>
            <a:off x="945624" y="2672108"/>
            <a:ext cx="22492752" cy="9773892"/>
          </a:xfrm>
          <a:prstGeom prst="rect">
            <a:avLst/>
          </a:prstGeom>
        </p:spPr>
        <p:txBody>
          <a:bodyPr anchor="t"/>
          <a:lstStyle/>
          <a:p>
            <a:pPr marL="0" indent="0" defTabSz="784225">
              <a:spcBef>
                <a:spcPts val="4200"/>
              </a:spcBef>
              <a:buSzTx/>
              <a:buNone/>
              <a:defRPr sz="3609"/>
            </a:pPr>
            <a:r>
              <a:t>На этапе производства и контроля система обеспечивает: </a:t>
            </a:r>
            <a:endParaRPr sz="1140">
              <a:latin typeface="Times Roman"/>
              <a:ea typeface="Times Roman"/>
              <a:cs typeface="Times Roman"/>
              <a:sym typeface="Times Roman"/>
            </a:endParaRPr>
          </a:p>
          <a:p>
            <a:pPr marL="477572" indent="-477572" defTabSz="784225">
              <a:spcBef>
                <a:spcPts val="4200"/>
              </a:spcBef>
              <a:defRPr sz="3609"/>
            </a:pPr>
            <a:r>
              <a:t>фиксацию фактического выпуска продукции;</a:t>
            </a:r>
          </a:p>
          <a:p>
            <a:pPr marL="477572" indent="-477572" defTabSz="784225">
              <a:spcBef>
                <a:spcPts val="4200"/>
              </a:spcBef>
              <a:defRPr sz="3609"/>
            </a:pPr>
            <a:r>
              <a:t>оперативный учёт хода выполнения заказов;</a:t>
            </a:r>
          </a:p>
          <a:p>
            <a:pPr marL="477572" indent="-477572" defTabSz="784225">
              <a:spcBef>
                <a:spcPts val="4200"/>
              </a:spcBef>
              <a:defRPr sz="3609"/>
            </a:pPr>
            <a:r>
              <a:t>контроль выполнения плановых показателей;</a:t>
            </a:r>
          </a:p>
          <a:p>
            <a:pPr marL="477572" indent="-477572" defTabSz="784225">
              <a:spcBef>
                <a:spcPts val="4200"/>
              </a:spcBef>
              <a:defRPr sz="3609"/>
            </a:pPr>
            <a:r>
              <a:t>формирование аналитической отчётности. </a:t>
            </a:r>
          </a:p>
          <a:p>
            <a:pPr marL="0" indent="0" defTabSz="784225">
              <a:spcBef>
                <a:spcPts val="4200"/>
              </a:spcBef>
              <a:buSzTx/>
              <a:buNone/>
              <a:defRPr sz="3609"/>
            </a:pPr>
            <a:r>
              <a:t>Используются стандартные отчёты:</a:t>
            </a:r>
          </a:p>
          <a:p>
            <a:pPr marL="477572" indent="-477572" defTabSz="784225">
              <a:spcBef>
                <a:spcPts val="4200"/>
              </a:spcBef>
              <a:defRPr sz="3609"/>
            </a:pPr>
            <a:r>
              <a:t>«План-фактный анализ производства»; </a:t>
            </a:r>
            <a:endParaRPr sz="1140">
              <a:latin typeface="Times Roman"/>
              <a:ea typeface="Times Roman"/>
              <a:cs typeface="Times Roman"/>
              <a:sym typeface="Times Roman"/>
            </a:endParaRPr>
          </a:p>
          <a:p>
            <a:pPr marL="477572" indent="-477572" defTabSz="784225">
              <a:spcBef>
                <a:spcPts val="4200"/>
              </a:spcBef>
              <a:defRPr sz="3609"/>
            </a:pPr>
            <a:r>
              <a:t>«Анализ выполнения заказов на производство». </a:t>
            </a:r>
            <a:endParaRPr sz="1140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784225">
              <a:spcBef>
                <a:spcPts val="4200"/>
              </a:spcBef>
              <a:buSzTx/>
              <a:buNone/>
              <a:defRPr sz="3609"/>
            </a:pPr>
            <a:endParaRPr sz="114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Table 1"/>
          <p:cNvGraphicFramePr/>
          <p:nvPr/>
        </p:nvGraphicFramePr>
        <p:xfrm>
          <a:off x="2795382" y="2143119"/>
          <a:ext cx="18793236" cy="942976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9396617"/>
                <a:gridCol w="9396617"/>
              </a:tblGrid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Операции, которые требуют автоматизации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Функциональный компонент ИС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Фиксация фактического выпуска продукции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Документы регистрации выпуска продукции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Оперативный учёт хода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Документы оперативного учёта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Контроль выполнения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Отчёты по заказам на производство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отчёта «План-фактный анализ производства»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 «План-фактный анализ производства»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отчёта «Анализ выполнения заказов»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 «Анализ выполнения заказов на производство»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4710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Использование фактических данных внешних систем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Интеграция / обмен данными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5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7" name="Анализ показал, что:…"/>
          <p:cNvSpPr txBox="1"/>
          <p:nvPr>
            <p:ph type="body" idx="4294967295"/>
          </p:nvPr>
        </p:nvSpPr>
        <p:spPr>
          <a:xfrm>
            <a:off x="917235" y="2658296"/>
            <a:ext cx="22418767" cy="9787704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4800"/>
            </a:pPr>
            <a:r>
              <a:t>Анализ показал, что: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4800"/>
            </a:pPr>
            <a:r>
              <a:t>большинство операций используют стандартные информационные объекты 1С:УПП;</a:t>
            </a:r>
          </a:p>
          <a:p>
            <a:pPr>
              <a:defRPr sz="4800"/>
            </a:pPr>
            <a:r>
              <a:t>структура документов и справочников соответствует требованиям модели объекта автоматизации; </a:t>
            </a:r>
          </a:p>
          <a:p>
            <a:pPr>
              <a:defRPr sz="4800"/>
            </a:pPr>
            <a:r>
              <a:t>в большинстве случаев создание новых информационных объектов не требуется. </a:t>
            </a:r>
          </a:p>
        </p:txBody>
      </p:sp>
      <p:sp>
        <p:nvSpPr>
          <p:cNvPr id="158" name="Результаты выполнения задания 2…"/>
          <p:cNvSpPr txBox="1"/>
          <p:nvPr>
            <p:ph type="title" idx="4294967295"/>
          </p:nvPr>
        </p:nvSpPr>
        <p:spPr>
          <a:xfrm>
            <a:off x="1689100" y="355600"/>
            <a:ext cx="20875038" cy="1667697"/>
          </a:xfrm>
          <a:prstGeom prst="rect">
            <a:avLst/>
          </a:prstGeom>
        </p:spPr>
        <p:txBody>
          <a:bodyPr/>
          <a:lstStyle/>
          <a:p>
            <a:pPr defTabSz="503555">
              <a:defRPr sz="5124"/>
            </a:pPr>
            <a:r>
              <a:t>Результаты выполнения задания 2</a:t>
            </a:r>
          </a:p>
          <a:p>
            <a:pPr defTabSz="503555">
              <a:defRPr sz="5124"/>
            </a:pPr>
            <a:r>
              <a:t>Анализ информационной архитектуры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Годовое планирование"/>
          <p:cNvSpPr txBox="1"/>
          <p:nvPr>
            <p:ph type="title" idx="4294967295"/>
          </p:nvPr>
        </p:nvSpPr>
        <p:spPr>
          <a:xfrm>
            <a:off x="1689100" y="355599"/>
            <a:ext cx="20833496" cy="1032406"/>
          </a:xfrm>
          <a:prstGeom prst="rect">
            <a:avLst/>
          </a:prstGeom>
        </p:spPr>
        <p:txBody>
          <a:bodyPr/>
          <a:lstStyle>
            <a:lvl1pPr defTabSz="594360">
              <a:defRPr sz="6048"/>
            </a:lvl1pPr>
          </a:lstStyle>
          <a:p>
            <a:pPr/>
            <a:r>
              <a:t>Годовое планирование</a:t>
            </a:r>
          </a:p>
        </p:txBody>
      </p:sp>
      <p:sp>
        <p:nvSpPr>
          <p:cNvPr id="16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62" name="Table 1"/>
          <p:cNvGraphicFramePr/>
          <p:nvPr/>
        </p:nvGraphicFramePr>
        <p:xfrm>
          <a:off x="3055169" y="2308985"/>
          <a:ext cx="18273662" cy="985103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568415"/>
                <a:gridCol w="4568415"/>
                <a:gridCol w="4568415"/>
                <a:gridCol w="4568415"/>
              </a:tblGrid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Операция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Информационный объект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Информационные объекты ИС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Заключение об оценке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плана продаж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 продаж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продаж», номенклатура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Внесение планируемых продаж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Планируемые позиции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продаж»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Указание кастомизации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Характеристика изделия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Характеристики номенклатуры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Передача плана продаж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Статус плана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Бизнес-процесс согласования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Требуется настройка маршрутов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плана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производства»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Разузлование изделия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Производственный состав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Спецификации номенклатуры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Расчёт дат запуска и выпуска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Даты запуска и выпуска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 производства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потребностей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Потребности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Механизм расчёта потребностей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Проверка обеспеченности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Обеспеченность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Остатки складов, заказы поставщикам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плана закупок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 закупок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«План закупок»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заказов поставщикам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Заказ поставщику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 «Заказ поставщику»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5777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Утверждение планов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Статус утверждения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Бизнес-процесс согласования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Требуется настройка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Ежемесячное планирование и обеспечение производства"/>
          <p:cNvSpPr txBox="1"/>
          <p:nvPr>
            <p:ph type="title" idx="4294967295"/>
          </p:nvPr>
        </p:nvSpPr>
        <p:spPr>
          <a:xfrm>
            <a:off x="1689100" y="355600"/>
            <a:ext cx="20872407" cy="1213150"/>
          </a:xfrm>
          <a:prstGeom prst="rect">
            <a:avLst/>
          </a:prstGeom>
        </p:spPr>
        <p:txBody>
          <a:bodyPr/>
          <a:lstStyle>
            <a:lvl1pPr defTabSz="553084">
              <a:defRPr sz="5628"/>
            </a:lvl1pPr>
          </a:lstStyle>
          <a:p>
            <a:pPr/>
            <a:r>
              <a:t>Ежемесячное планирование и обеспечение производства</a:t>
            </a:r>
          </a:p>
        </p:txBody>
      </p:sp>
      <p:sp>
        <p:nvSpPr>
          <p:cNvPr id="16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66" name="Table 1"/>
          <p:cNvGraphicFramePr/>
          <p:nvPr/>
        </p:nvGraphicFramePr>
        <p:xfrm>
          <a:off x="2420867" y="2826034"/>
          <a:ext cx="19542266" cy="899768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885566"/>
                <a:gridCol w="4885566"/>
                <a:gridCol w="4885566"/>
                <a:gridCol w="4885566"/>
              </a:tblGrid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Операция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Информационный объект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Информационные объекты ИС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2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Заключение об оценке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Расчёт дат запуска и выпуска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Даты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 производства, заказ на производство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структуры заказа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Структура изделия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Спецификации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потребностей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Потребности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Механизм учёта потребностей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Резервирование материалов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Резервы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Механизм резервирования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Комплектовочная ведомость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Комплектовочная ведомость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 УПП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Производственная программа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Производственная программа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Производственная программа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Загрузка рабочих центров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Загрузка мощностей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Рабочие центры, графики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Частично автоматизируется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9974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Оценка выполнимости плана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Выполнимость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Производственная программа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Требуется доработка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Производство, контроль и анализ"/>
          <p:cNvSpPr txBox="1"/>
          <p:nvPr>
            <p:ph type="title" idx="4294967295"/>
          </p:nvPr>
        </p:nvSpPr>
        <p:spPr>
          <a:xfrm>
            <a:off x="1689100" y="355600"/>
            <a:ext cx="20843361" cy="936607"/>
          </a:xfrm>
          <a:prstGeom prst="rect">
            <a:avLst/>
          </a:prstGeom>
        </p:spPr>
        <p:txBody>
          <a:bodyPr/>
          <a:lstStyle>
            <a:lvl1pPr defTabSz="536575">
              <a:defRPr sz="5460"/>
            </a:lvl1pPr>
          </a:lstStyle>
          <a:p>
            <a:pPr/>
            <a:r>
              <a:t>Производство, контроль и анализ</a:t>
            </a:r>
          </a:p>
        </p:txBody>
      </p:sp>
      <p:sp>
        <p:nvSpPr>
          <p:cNvPr id="1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70" name="Table 1"/>
          <p:cNvGraphicFramePr/>
          <p:nvPr/>
        </p:nvGraphicFramePr>
        <p:xfrm>
          <a:off x="1324534" y="2382050"/>
          <a:ext cx="21734932" cy="960910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433732"/>
                <a:gridCol w="5433732"/>
                <a:gridCol w="5433732"/>
                <a:gridCol w="5433732"/>
              </a:tblGrid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Операция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Информационный объект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Информационные объекты ИС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b="1" sz="3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Заключение об оценке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Фактический выпуск продукции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 выпуска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Документы выпуска продукции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Оперативный учёт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Статусы выполнения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Документы оперативного учёта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Контроль выполнения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Состояние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Отчёты по заказам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План-фактный анализ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Аналитические данные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 «План-фактный анализ»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Анализ выполнения заказов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Аналитические данные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Отчёт «Анализ выполнения заказов»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 требует доработки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72729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Фактические данные внешних систем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Фактические показатели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Интеграция / обмен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Требуется интеграция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Результаты выполнения задания 2…"/>
          <p:cNvSpPr txBox="1"/>
          <p:nvPr>
            <p:ph type="title" idx="4294967295"/>
          </p:nvPr>
        </p:nvSpPr>
        <p:spPr>
          <a:xfrm>
            <a:off x="1689100" y="355600"/>
            <a:ext cx="21005801" cy="1719871"/>
          </a:xfrm>
          <a:prstGeom prst="rect">
            <a:avLst/>
          </a:prstGeom>
        </p:spPr>
        <p:txBody>
          <a:bodyPr/>
          <a:lstStyle/>
          <a:p>
            <a:pPr defTabSz="511809">
              <a:defRPr sz="5208"/>
            </a:pPr>
            <a:r>
              <a:t>Результаты выполнения задания 2</a:t>
            </a:r>
          </a:p>
          <a:p>
            <a:pPr defTabSz="511809">
              <a:defRPr sz="5208"/>
            </a:pPr>
            <a:r>
              <a:t>Выявленные ограничения и доработки</a:t>
            </a:r>
          </a:p>
        </p:txBody>
      </p:sp>
      <p:sp>
        <p:nvSpPr>
          <p:cNvPr id="173" name="В ходе анализа были выявлены отдельные моменты, требующие дополнительной настройки:…"/>
          <p:cNvSpPr txBox="1"/>
          <p:nvPr>
            <p:ph type="body" idx="4294967295"/>
          </p:nvPr>
        </p:nvSpPr>
        <p:spPr>
          <a:xfrm>
            <a:off x="837440" y="2710470"/>
            <a:ext cx="22709120" cy="9735531"/>
          </a:xfrm>
          <a:prstGeom prst="rect">
            <a:avLst/>
          </a:prstGeom>
        </p:spPr>
        <p:txBody>
          <a:bodyPr anchor="t"/>
          <a:lstStyle/>
          <a:p>
            <a:pPr marL="0" indent="0" defTabSz="817244">
              <a:spcBef>
                <a:spcPts val="5800"/>
              </a:spcBef>
              <a:buSzTx/>
              <a:buNone/>
              <a:defRPr sz="4752"/>
            </a:pPr>
            <a:r>
              <a:t>В ходе анализа были выявлены отдельные моменты, требующие дополнительной настройки: </a:t>
            </a:r>
            <a:endParaRPr sz="1188">
              <a:latin typeface="Times Roman"/>
              <a:ea typeface="Times Roman"/>
              <a:cs typeface="Times Roman"/>
              <a:sym typeface="Times Roman"/>
            </a:endParaRPr>
          </a:p>
          <a:p>
            <a:pPr marL="880110" indent="-880110" defTabSz="817244">
              <a:spcBef>
                <a:spcPts val="5800"/>
              </a:spcBef>
              <a:buSzPct val="100000"/>
              <a:buAutoNum type="arabicPeriod" startAt="1"/>
              <a:defRPr sz="4752"/>
            </a:pPr>
            <a:r>
              <a:rPr b="1"/>
              <a:t>Оценка выполнимости плана по загрузке производственных мощностей</a:t>
            </a:r>
            <a:br>
              <a:rPr b="1"/>
            </a:br>
            <a:r>
              <a:t>Данная функция частично поддерживается средствами УПП, однако требует настройки методики расчёта с использованием данных о рабочих центрах и графиках работы. </a:t>
            </a:r>
            <a:endParaRPr sz="1188">
              <a:latin typeface="Times Roman"/>
              <a:ea typeface="Times Roman"/>
              <a:cs typeface="Times Roman"/>
              <a:sym typeface="Times Roman"/>
            </a:endParaRPr>
          </a:p>
          <a:p>
            <a:pPr marL="880110" indent="-880110" defTabSz="817244">
              <a:spcBef>
                <a:spcPts val="5800"/>
              </a:spcBef>
              <a:buSzPct val="100000"/>
              <a:buAutoNum type="arabicPeriod" startAt="1"/>
              <a:defRPr sz="4752"/>
            </a:pPr>
            <a:r>
              <a:rPr b="1"/>
              <a:t>Использование фактических данных из внешних систем</a:t>
            </a:r>
            <a:br>
              <a:rPr b="1"/>
            </a:br>
            <a:r>
              <a:t>Для формирования отчётности требуется организация обмена данными и интеграция с внешними информационными системами предприятия. </a:t>
            </a:r>
            <a:endParaRPr sz="1188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7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