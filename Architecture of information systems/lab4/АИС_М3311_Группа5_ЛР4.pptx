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463040"/>
            <a:ext cx="274320" cy="2743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ЛАБОРАТОРНАЯ РАБОТА №4 · АРХИТЕКТУРА ИНФОРМАЦИОННЫХ СИСТЕМ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52A47"/>
                </a:solidFill>
                <a:latin typeface="Calibri"/>
              </a:rPr>
              <a:t>Анализ и моделирование</a:t>
            </a:r>
          </a:p>
          <a:p>
            <a:pPr algn="l"/>
            <a:r>
              <a:rPr sz="3600" b="1">
                <a:solidFill>
                  <a:srgbClr val="152A47"/>
                </a:solidFill>
                <a:latin typeface="Calibri"/>
              </a:rPr>
              <a:t>программной архитектуры и архитектуры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B2B2B"/>
                </a:solidFill>
                <a:latin typeface="Calibri"/>
              </a:rPr>
              <a:t>Объект исследования: URL Shortener (Python · Flask · SQLite)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617720"/>
            <a:ext cx="3200400" cy="274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Calibri"/>
              </a:rPr>
              <a:t>Выполнили студенты группы M3311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Агаев Эльдар</a:t>
            </a:r>
          </a:p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Ануфриев Константин</a:t>
            </a:r>
          </a:p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Сидякин Ярослав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8006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Calibri"/>
              </a:rPr>
              <a:t>Преподаватель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1206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Логачева Елизавета Дмитриевна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263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Санкт-Петербург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A47"/>
                </a:solidFill>
                <a:latin typeface="Calibri"/>
              </a:rPr>
              <a:t>Цель и задачи работы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ИТМО · АИС · Лабораторная №4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1064240" cy="114300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09728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813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ЦЕЛЬ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52A47"/>
                </a:solidFill>
                <a:latin typeface="Calibri"/>
              </a:rPr>
              <a:t>Построить и сопоставить модели функциональной, информационной,</a:t>
            </a:r>
          </a:p>
          <a:p>
            <a:pPr algn="l"/>
            <a:r>
              <a:rPr sz="1700" b="0">
                <a:solidFill>
                  <a:srgbClr val="152A47"/>
                </a:solidFill>
                <a:latin typeface="Calibri"/>
              </a:rPr>
              <a:t>программной архитектур и архитектуры данных конкретного программного средства.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ЗАДАЧИ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68580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3756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2B2B"/>
                </a:solidFill>
                <a:latin typeface="Calibri"/>
              </a:rPr>
              <a:t>Описать ИТ-процессы, инфо-объекты, требования и построить Activity-диаграмму.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68580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20624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2B2B"/>
                </a:solidFill>
                <a:latin typeface="Calibri"/>
              </a:rPr>
              <a:t>Разобрать программную архитектуру: компоненты, классы, технологии; описать архитектуру данных.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83480"/>
            <a:ext cx="68580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8348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0749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2B2B"/>
                </a:solidFill>
                <a:latin typeface="Calibri"/>
              </a:rPr>
              <a:t>Сопоставить функциональную ↔ программную архитектуры и информационную ↔ архитектуру данных.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A47"/>
                </a:solidFill>
                <a:latin typeface="Calibri"/>
              </a:rPr>
              <a:t>Объект исследования — URL Shortener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ИТМО · АИС · Лабораторная №4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Что это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6675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2B2B"/>
                </a:solidFill>
                <a:latin typeface="Calibri"/>
              </a:rPr>
              <a:t>Open-source веб-приложение для сокращения длинных URL-адресов:</a:t>
            </a:r>
          </a:p>
          <a:p>
            <a:pPr algn="l"/>
            <a:r>
              <a:rPr sz="1600" b="0">
                <a:solidFill>
                  <a:srgbClr val="2B2B2B"/>
                </a:solidFill>
                <a:latin typeface="Calibri"/>
              </a:rPr>
              <a:t>принимает длинный URL, генерирует короткий токен из 6 символов и</a:t>
            </a:r>
          </a:p>
          <a:p>
            <a:pPr algn="l"/>
            <a:r>
              <a:rPr sz="1600" b="0">
                <a:solidFill>
                  <a:srgbClr val="2B2B2B"/>
                </a:solidFill>
                <a:latin typeface="Calibri"/>
              </a:rPr>
              <a:t>выполняет HTTP-редирект при обращении по короткой ссылке.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Почему именно он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95344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94760"/>
            <a:ext cx="6446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Компактная и прозрачная архитектура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79392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78808"/>
            <a:ext cx="6446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Охватывает полный ИТ-цикл: приём → обработка → хранение → передача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63440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62856"/>
            <a:ext cx="6446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Взаимодействие с реляционной БД через 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47488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46904"/>
            <a:ext cx="6446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Публичный репозиторий, доступная кодовая база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371600"/>
            <a:ext cx="4023360" cy="475488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1371600"/>
            <a:ext cx="402336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13716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ТЕХНОЛОГИЧЕСКИЙ СТЕК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2267712"/>
            <a:ext cx="91440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1488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52A47"/>
                </a:solidFill>
                <a:latin typeface="Calibri"/>
              </a:rPr>
              <a:t>Python 3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язык реализации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862072"/>
            <a:ext cx="91440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27432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52A47"/>
                </a:solidFill>
                <a:latin typeface="Calibri"/>
              </a:rPr>
              <a:t>Flask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веб-микрофреймворк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3456432"/>
            <a:ext cx="91440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33375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52A47"/>
                </a:solidFill>
                <a:latin typeface="Calibri"/>
              </a:rPr>
              <a:t>SQLite 3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реляционная БД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4050792"/>
            <a:ext cx="91440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39319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52A47"/>
                </a:solidFill>
                <a:latin typeface="Calibri"/>
              </a:rPr>
              <a:t>string / random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генерация токенов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4645152"/>
            <a:ext cx="91440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45262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52A47"/>
                </a:solidFill>
                <a:latin typeface="Calibri"/>
              </a:rPr>
              <a:t>Jinja2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HTML-шаблоны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5239511"/>
            <a:ext cx="91440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512063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52A47"/>
                </a:solidFill>
                <a:latin typeface="Calibri"/>
              </a:rPr>
              <a:t>ORM-модель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доступ к данным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8932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Репозиторий:  github.com/shubham-kumar-9/URL-Shortener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A47"/>
                </a:solidFill>
                <a:latin typeface="Calibri"/>
              </a:rPr>
              <a:t>ИТ-процессы, информационные объекты и требования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ИТМО · АИС · Лабораторная №4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2697480" cy="150876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69748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СБОР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7452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Пользователь отправляет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длинный URL через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HTTP POST-запрос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697480" cy="150876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69748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371600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ОБРАБОТКА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7452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Валидация URL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и генерация уникального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токена (6 символов)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79" y="1371600"/>
            <a:ext cx="2697480" cy="150876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1371600"/>
            <a:ext cx="269748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1371600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ХРАНЕНИЕ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39" y="187452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Связка «длинный URL —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короткий токен»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записывается в СУБД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399" y="1371600"/>
            <a:ext cx="2697480" cy="150876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399" y="1371600"/>
            <a:ext cx="269748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399" y="1371600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ПЕРЕДАЧА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59" y="187452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По короткой ссылке —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поиск в БД и HTTP 302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редирект на оригинал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ИНФОРМАЦИОННЫЕ ОБЪЕКТЫ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58184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6576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52A47"/>
                </a:solidFill>
                <a:latin typeface="Calibri"/>
              </a:rPr>
              <a:t>Оригинальная ссылка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 —  строка (длинный URL)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15384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1148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52A47"/>
                </a:solidFill>
                <a:latin typeface="Calibri"/>
              </a:rPr>
              <a:t>Короткий токен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 —  строка из 6 символов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672584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5720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52A47"/>
                </a:solidFill>
                <a:latin typeface="Calibri"/>
              </a:rPr>
              <a:t>Статистика переходов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 —  счётчик кликов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154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ТРЕБОВАНИЯ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6576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2A47"/>
                </a:solidFill>
                <a:latin typeface="Calibri"/>
              </a:rPr>
              <a:t>Функциональные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97764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· Генерация уникальных токенов</a:t>
            </a:r>
          </a:p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· Перенаправление по короткой ссылке</a:t>
            </a:r>
          </a:p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· Учёт количества переходов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2578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2A47"/>
                </a:solidFill>
                <a:latin typeface="Calibri"/>
              </a:rPr>
              <a:t>Нефункциональные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577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· Время отклика при редиректе  ≤ 200 мс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A47"/>
                </a:solidFill>
                <a:latin typeface="Calibri"/>
              </a:rPr>
              <a:t>ИТ-процесс создания короткой ссылки (Activity)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ИТМО · АИС · Лабораторная №4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11</a:t>
            </a:r>
          </a:p>
        </p:txBody>
      </p:sp>
      <p:pic>
        <p:nvPicPr>
          <p:cNvPr id="8" name="Picture 7" descr="img-003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2891418" cy="4937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41732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Что происходит на диаграмме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975103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2A47"/>
                </a:solidFill>
                <a:latin typeface="Calibri"/>
              </a:rPr>
              <a:t>Ввод URL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пользователь отправляет длинную ссылку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523743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423159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2A47"/>
                </a:solidFill>
                <a:latin typeface="Calibri"/>
              </a:rPr>
              <a:t>Валидация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проверка формата; при ошибке — HTTP 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072383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971799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2A47"/>
                </a:solidFill>
                <a:latin typeface="Calibri"/>
              </a:rPr>
              <a:t>Генерация токена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алиас из 6 символов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621022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520438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2A47"/>
                </a:solidFill>
                <a:latin typeface="Calibri"/>
              </a:rPr>
              <a:t>Проверка уникальности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если коллизия, повтор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4169663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069079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2A47"/>
                </a:solidFill>
                <a:latin typeface="Calibri"/>
              </a:rPr>
              <a:t>Сохранение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INSERT в таблицу urls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718303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617719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2A47"/>
                </a:solidFill>
                <a:latin typeface="Calibri"/>
              </a:rPr>
              <a:t>Возврат ссылки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пользователь получает короткий URL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A47"/>
                </a:solidFill>
                <a:latin typeface="Calibri"/>
              </a:rPr>
              <a:t>Программная архитектура — компоненты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ИТМО · АИС · Лабораторная №4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11</a:t>
            </a:r>
          </a:p>
        </p:txBody>
      </p:sp>
      <p:pic>
        <p:nvPicPr>
          <p:cNvPr id="8" name="Picture 7" descr="img-004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4189794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13716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Состав компонентов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975103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19"/>
            <a:ext cx="5257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2A47"/>
                </a:solidFill>
                <a:latin typeface="Calibri"/>
              </a:rPr>
              <a:t>Flask Web Server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точка входа, приём HTTP и маршрутизация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660903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560319"/>
            <a:ext cx="5257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2A47"/>
                </a:solidFill>
                <a:latin typeface="Calibri"/>
              </a:rPr>
              <a:t>Token Generator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утилита на string + random, генерит алиас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346703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246119"/>
            <a:ext cx="5257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2A47"/>
                </a:solidFill>
                <a:latin typeface="Calibri"/>
              </a:rPr>
              <a:t>DB Connector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выполняет CRUD-запросы к SQLite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032503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931919"/>
            <a:ext cx="5257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2A47"/>
                </a:solidFill>
                <a:latin typeface="Calibri"/>
              </a:rPr>
              <a:t>SQLite Database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файловое хранилище связок URL↔токен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5349240"/>
            <a:ext cx="5486400" cy="91440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5349240"/>
            <a:ext cx="109728" cy="914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5440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АРХИТЕКТУРНЫЙ ПАТТЕРН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7607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52A47"/>
                </a:solidFill>
                <a:latin typeface="Calibri"/>
              </a:rPr>
              <a:t>MVC — слабая связанность компонентов, логика отделена от доступа к данным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A47"/>
                </a:solidFill>
                <a:latin typeface="Calibri"/>
              </a:rPr>
              <a:t>Программная архитектура — классы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ИТМО · АИС · Лабораторная №4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11</a:t>
            </a:r>
          </a:p>
        </p:txBody>
      </p:sp>
      <p:pic>
        <p:nvPicPr>
          <p:cNvPr id="8" name="Picture 7" descr="img-005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4236420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3716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Ключевые классы и их роли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975103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874519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2A47"/>
                </a:solidFill>
                <a:latin typeface="Calibri"/>
              </a:rPr>
              <a:t>FlaskApp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экземпляр приложения, маршрутизация (@app.route)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706623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606039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2A47"/>
                </a:solidFill>
                <a:latin typeface="Calibri"/>
              </a:rPr>
              <a:t>Controllers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обработчики index / shorten_url / redirect_to_url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438143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3337559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2A47"/>
                </a:solidFill>
                <a:latin typeface="Calibri"/>
              </a:rPr>
              <a:t>TokenGenerator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функция generate_short_id(length)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4169663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4069079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2A47"/>
                </a:solidFill>
                <a:latin typeface="Calibri"/>
              </a:rPr>
              <a:t>URLModel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 —  ORM-модель таблицы urls (save, query)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5440680"/>
            <a:ext cx="5120640" cy="82296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5440680"/>
            <a:ext cx="109728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553212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52A47"/>
                </a:solidFill>
                <a:latin typeface="Calibri"/>
              </a:rPr>
              <a:t>Контроллеры делегируют работу с данными ORM-модели —</a:t>
            </a:r>
          </a:p>
          <a:p>
            <a:pPr algn="l"/>
            <a:r>
              <a:rPr sz="1200" b="0">
                <a:solidFill>
                  <a:srgbClr val="152A47"/>
                </a:solidFill>
                <a:latin typeface="Calibri"/>
              </a:rPr>
              <a:t>это упрощает модификацию кода и поддерживает слабую связанность.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A47"/>
                </a:solidFill>
                <a:latin typeface="Calibri"/>
              </a:rPr>
              <a:t>Архитектура данных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ИТМО · АИС · Лабораторная №4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11</a:t>
            </a:r>
          </a:p>
        </p:txBody>
      </p:sp>
      <p:pic>
        <p:nvPicPr>
          <p:cNvPr id="8" name="Picture 7" descr="img-006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4175020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3716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Хранилище и сущности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52A47"/>
                </a:solidFill>
                <a:latin typeface="Calibri"/>
              </a:rPr>
              <a:t>СУБД: SQLite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Лёгковесное файловое хранилище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без отдельного серверного процесса.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063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52A47"/>
                </a:solidFill>
                <a:latin typeface="Calibri"/>
              </a:rPr>
              <a:t>Основная таблица:  urls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3575304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347472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52A47"/>
                </a:solidFill>
                <a:latin typeface="Calibri"/>
              </a:rPr>
              <a:t>id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 —  INTEGER, первичный ключ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3986784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388620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52A47"/>
                </a:solidFill>
                <a:latin typeface="Calibri"/>
              </a:rPr>
              <a:t>original_url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 —  VARCHAR, исходный адрес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4398264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429768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52A47"/>
                </a:solidFill>
                <a:latin typeface="Calibri"/>
              </a:rPr>
              <a:t>short_code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 —  VARCHAR, UNIQUE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4809744"/>
            <a:ext cx="82296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470916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52A47"/>
                </a:solidFill>
                <a:latin typeface="Calibri"/>
              </a:rPr>
              <a:t>created_at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 —  DATETIME, дата создания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5486400"/>
            <a:ext cx="5120640" cy="77724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5486400"/>
            <a:ext cx="109728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557784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52A47"/>
                </a:solidFill>
                <a:latin typeface="Calibri"/>
              </a:rPr>
              <a:t>Таблица CLICK фиксирует переходы</a:t>
            </a:r>
          </a:p>
          <a:p>
            <a:pPr algn="l"/>
            <a:r>
              <a:rPr sz="1200" b="0">
                <a:solidFill>
                  <a:srgbClr val="152A47"/>
                </a:solidFill>
                <a:latin typeface="Calibri"/>
              </a:rPr>
              <a:t>(время клика, IP-адрес) — 1:N от URL.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A47"/>
                </a:solidFill>
                <a:latin typeface="Calibri"/>
              </a:rPr>
              <a:t>Сопоставление: функциональная ↔ программная архитектура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ИТМО · АИС · Лабораторная №4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017520"/>
                <a:gridCol w="4572000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Функциональное требование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Программный компонент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Техническая реализация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Приём данных от пользователя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Flask Web Server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Декораторы @app.route, объект request.form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Генерация короткого алиаса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Token Generator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random.choices по string.ascii_letters + string.digits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Сохранение ссылки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DB Connector (URLModel)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sqlite3 / ORM: INSERT INTO urls, совместно с Web Server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Осуществление редиректа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Web Server + DB Connector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SELECT по short_code, затем Flask redirect(url)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Calibri"/>
              </a:rPr>
              <a:t>Наблюдение: </a:t>
            </a:r>
            <a:r>
              <a:rPr sz="1400" b="0" i="0">
                <a:solidFill>
                  <a:srgbClr val="152A47"/>
                </a:solidFill>
                <a:latin typeface="Calibri"/>
              </a:rPr>
              <a:t>Flask Web Server задействован сразу в нескольких функциях — это приём, маршрутизация и редирект. Значит, один программный компонент реализует несколько функциональных требований одновременно.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A47"/>
                </a:solidFill>
                <a:latin typeface="Calibri"/>
              </a:rPr>
              <a:t>Сопоставление: информационная ↔ архитектура данных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ИТМО · АИС · Лабораторная №4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4297680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Информационный объект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Структура данных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Целостность и уникальность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Оригинальная ссылка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Атрибут original_url (VARCHAR) в таблице urls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Валидация на уровне приложения (регулярные выражения Flask) перед записью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Короткий токен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Атрибут short_code (VARCHAR) в таблице urls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Ограничение UNIQUE на уровне СУБД + ACID-транзакции SQLite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Статистика переходов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Счётчик clicks (INTEGER) в таблице urls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</a:rPr>
                        <a:t>UPDATE urls SET clicks = clicks + 1 в рамках изолированной транзакции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Calibri"/>
              </a:rPr>
              <a:t>Итог: </a:t>
            </a:r>
            <a:r>
              <a:rPr sz="1400" b="0" i="0">
                <a:solidFill>
                  <a:srgbClr val="152A47"/>
                </a:solidFill>
                <a:latin typeface="Calibri"/>
              </a:rPr>
              <a:t>каждый информационный объект отображён в конкретный атрибут таблицы; целостность обеспечивается ACID-свойствами СУБД, а уникальность идентификатора — ограничением UNIQUE.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A47"/>
                </a:solidFill>
                <a:latin typeface="Calibri"/>
              </a:rPr>
              <a:t>Выводы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ИТМО · АИС · Лабораторная №4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82296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17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52A47"/>
                </a:solidFill>
                <a:latin typeface="Calibri"/>
              </a:rPr>
              <a:t>Проведён комплексный анализ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8745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Построены модели функциональной, информационной, программной архитектур и архитектуры данных URL-сокращателя в нотации UML.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82296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834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52A47"/>
                </a:solidFill>
                <a:latin typeface="Calibri"/>
              </a:rPr>
              <a:t>Сопоставления показали согласованность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2918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Все функциональные требования закрыты конкретными программными компонентами, все информационные объекты — конкретными структурами данных.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51960"/>
            <a:ext cx="82296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251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52A47"/>
                </a:solidFill>
                <a:latin typeface="Calibri"/>
              </a:rPr>
              <a:t>Целостность и уникальность обеспечены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7091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На уровне СУБД: ACID-транзакции SQLite при обновлении счётчиков, ограничение UNIQUE на поле короткого токена.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8064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8521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52A47"/>
                </a:solidFill>
                <a:latin typeface="Calibri"/>
              </a:rPr>
              <a:t>Архитектура URL-сокращателя полностью удовлетворяет функциональным и нефункциональным требованиям.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