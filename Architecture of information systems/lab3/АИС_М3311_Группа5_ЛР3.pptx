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4419600" y="44878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b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731520" y="937260"/>
            <a:ext cx="7680960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Лабораторная работа 3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31520" y="1748719"/>
            <a:ext cx="7680960" cy="5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Анализ функциональной архитектуры</a:t>
            </a:r>
          </a:p>
          <a:p>
            <a:pPr>
              <a:defRPr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и архитектуры данных конфигурации 1С:УТ</a:t>
            </a:r>
          </a:p>
        </p:txBody>
      </p:sp>
      <p:sp>
        <p:nvSpPr>
          <p:cNvPr id="23" name="Shape 3"/>
          <p:cNvSpPr/>
          <p:nvPr/>
        </p:nvSpPr>
        <p:spPr>
          <a:xfrm>
            <a:off x="731519" y="2834639"/>
            <a:ext cx="4572001" cy="1645921"/>
          </a:xfrm>
          <a:prstGeom prst="rect">
            <a:avLst/>
          </a:prstGeom>
          <a:solidFill>
            <a:srgbClr val="2B3D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1051559" y="3174300"/>
            <a:ext cx="4023361" cy="96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400">
                <a:solidFill>
                  <a:srgbClr val="AABBDD"/>
                </a:solidFill>
              </a:defRPr>
            </a:pPr>
            <a:r>
              <a:t>Конфигурация:  </a:t>
            </a:r>
            <a:r>
              <a:rPr b="1">
                <a:solidFill>
                  <a:srgbClr val="FFFFFF"/>
                </a:solidFill>
              </a:rPr>
              <a:t>"Управление торговлей"</a:t>
            </a:r>
          </a:p>
          <a:p>
            <a:pPr>
              <a:defRPr sz="1400">
                <a:solidFill>
                  <a:srgbClr val="AABBDD"/>
                </a:solidFill>
              </a:defRPr>
            </a:pPr>
            <a:r>
              <a:t>Вариант:  </a:t>
            </a:r>
            <a:r>
              <a:rPr b="1">
                <a:solidFill>
                  <a:srgbClr val="FFFFFF"/>
                </a:solidFill>
              </a:rPr>
              <a:t>5</a:t>
            </a:r>
          </a:p>
          <a:p>
            <a:pPr>
              <a:defRPr sz="1400">
                <a:solidFill>
                  <a:srgbClr val="AABBDD"/>
                </a:solidFill>
              </a:defRPr>
            </a:pPr>
            <a:r>
              <a:t>Поставщик:  </a:t>
            </a:r>
            <a:r>
              <a:rPr b="1">
                <a:solidFill>
                  <a:srgbClr val="FFFFFF"/>
                </a:solidFill>
              </a:rPr>
              <a:t>ООО "Парфюм"</a:t>
            </a:r>
          </a:p>
          <a:p>
            <a:pPr>
              <a:defRPr sz="1400">
                <a:solidFill>
                  <a:srgbClr val="AABBDD"/>
                </a:solidFill>
              </a:defRPr>
            </a:pPr>
            <a:r>
              <a:t>Договор:  </a:t>
            </a:r>
            <a:r>
              <a:rPr b="1">
                <a:solidFill>
                  <a:srgbClr val="FFFFFF"/>
                </a:solidFill>
              </a:rPr>
              <a:t>№35, сумма 211 000 руб.</a:t>
            </a:r>
          </a:p>
        </p:txBody>
      </p:sp>
      <p:sp>
        <p:nvSpPr>
          <p:cNvPr id="25" name="Shape 5"/>
          <p:cNvSpPr/>
          <p:nvPr/>
        </p:nvSpPr>
        <p:spPr>
          <a:xfrm>
            <a:off x="0" y="4937759"/>
            <a:ext cx="9144000" cy="2057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Номер слайда"/>
          <p:cNvSpPr txBox="1"/>
          <p:nvPr>
            <p:ph type="sldNum" sz="quarter" idx="4294967295"/>
          </p:nvPr>
        </p:nvSpPr>
        <p:spPr>
          <a:xfrm>
            <a:off x="6614515" y="4478976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Бизнес-задача</a:t>
            </a:r>
          </a:p>
        </p:txBody>
      </p:sp>
      <p:sp>
        <p:nvSpPr>
          <p:cNvPr id="30" name="Text 2"/>
          <p:cNvSpPr txBox="1"/>
          <p:nvPr/>
        </p:nvSpPr>
        <p:spPr>
          <a:xfrm>
            <a:off x="548640" y="896988"/>
            <a:ext cx="8046719" cy="400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Поставщику ООО "Парфюм" по договору 35 выписан заказ на поставку товара и услугу - доставку.</a:t>
            </a:r>
          </a:p>
        </p:txBody>
      </p:sp>
      <p:graphicFrame>
        <p:nvGraphicFramePr>
          <p:cNvPr id="31" name="Table 0"/>
          <p:cNvGraphicFramePr/>
          <p:nvPr/>
        </p:nvGraphicFramePr>
        <p:xfrm>
          <a:off x="548640" y="1325880"/>
          <a:ext cx="4572001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65760"/>
                <a:gridCol w="1463040"/>
                <a:gridCol w="640080"/>
                <a:gridCol w="457200"/>
                <a:gridCol w="731520"/>
                <a:gridCol w="914400"/>
              </a:tblGrid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№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Товар / услуга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Кол-во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Ед.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Цена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Сумма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2B579A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Шампунь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шт.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400,00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40 000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Лосьон для бритья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шт.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300,00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90 000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Краска для волос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шт.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400,00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80 000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Доставка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шт.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1 000,00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50800">
                <a:tc gridSpan="4"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D5E0F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/>
                        <a:t>Итого: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D5E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</a:rPr>
                        <a:t>211 000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D5E0F0"/>
                    </a:solidFill>
                  </a:tcPr>
                </a:tc>
              </a:tr>
            </a:tbl>
          </a:graphicData>
        </a:graphic>
      </p:graphicFrame>
      <p:sp>
        <p:nvSpPr>
          <p:cNvPr id="32" name="Text 3"/>
          <p:cNvSpPr txBox="1"/>
          <p:nvPr/>
        </p:nvSpPr>
        <p:spPr>
          <a:xfrm>
            <a:off x="5669279" y="1318628"/>
            <a:ext cx="310896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Шаги выполнения: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5714999" y="1645920"/>
            <a:ext cx="3017521" cy="199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Создание организации</a:t>
            </a:r>
          </a:p>
          <a:p>
            <a:pPr>
              <a:defRPr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Регистрация поставщика</a:t>
            </a:r>
          </a:p>
          <a:p>
            <a:pPr>
              <a:defRPr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Настройка номенклатуры</a:t>
            </a:r>
          </a:p>
          <a:p>
            <a:pPr>
              <a:defRPr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Договор и соглашение</a:t>
            </a:r>
          </a:p>
          <a:p>
            <a:pPr>
              <a:defRPr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5. Вид цены поставщика</a:t>
            </a:r>
          </a:p>
          <a:p>
            <a:pPr>
              <a:defRPr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6. Заказ поставщику</a:t>
            </a:r>
          </a:p>
          <a:p>
            <a:pPr>
              <a:defRPr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7. Оплата (безналичная)</a:t>
            </a:r>
          </a:p>
          <a:p>
            <a:pPr>
              <a:defRPr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8. Приобретение товаров</a:t>
            </a:r>
          </a:p>
          <a:p>
            <a:pPr>
              <a:defRPr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9. Приёмка на склад</a:t>
            </a:r>
          </a:p>
          <a:p>
            <a:pPr>
              <a:defRPr sz="13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10. Проверка (ведомость)</a:t>
            </a:r>
          </a:p>
        </p:txBody>
      </p:sp>
      <p:sp>
        <p:nvSpPr>
          <p:cNvPr id="34" name="Номер слайда"/>
          <p:cNvSpPr txBox="1"/>
          <p:nvPr>
            <p:ph type="sldNum" sz="quarter" idx="4294967295"/>
          </p:nvPr>
        </p:nvSpPr>
        <p:spPr>
          <a:xfrm>
            <a:off x="6419016" y="4453568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1: Создание организации</a:t>
            </a:r>
          </a:p>
        </p:txBody>
      </p:sp>
      <p:pic>
        <p:nvPicPr>
          <p:cNvPr id="3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1005839"/>
            <a:ext cx="5029201" cy="2497766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ext 2"/>
          <p:cNvSpPr txBox="1"/>
          <p:nvPr/>
        </p:nvSpPr>
        <p:spPr>
          <a:xfrm>
            <a:off x="548640" y="3618712"/>
            <a:ext cx="5029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Форма создания организации ЗАО «Торговый дом»</a:t>
            </a:r>
          </a:p>
        </p:txBody>
      </p:sp>
      <p:sp>
        <p:nvSpPr>
          <p:cNvPr id="40" name="Shape 3"/>
          <p:cNvSpPr/>
          <p:nvPr/>
        </p:nvSpPr>
        <p:spPr>
          <a:xfrm>
            <a:off x="5943600" y="1005839"/>
            <a:ext cx="2834640" cy="292608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" name="Shape 4"/>
          <p:cNvSpPr/>
          <p:nvPr/>
        </p:nvSpPr>
        <p:spPr>
          <a:xfrm>
            <a:off x="5943600" y="1005839"/>
            <a:ext cx="64008" cy="2926082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5"/>
          <p:cNvSpPr txBox="1"/>
          <p:nvPr/>
        </p:nvSpPr>
        <p:spPr>
          <a:xfrm>
            <a:off x="6263640" y="1097280"/>
            <a:ext cx="2286001" cy="179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1E2761"/>
                </a:solidFill>
              </a:defRPr>
            </a:pPr>
            <a:r>
              <a:t>Заполненные реквизиты:</a:t>
            </a:r>
          </a:p>
          <a:p>
            <a:pPr>
              <a:defRPr sz="1300"/>
            </a:pPr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Рабочее наименование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Полное юр. наименование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Сокращённое наименование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Префикс "ТД"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Тип: Юридическое лицо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ИНН</a:t>
            </a:r>
          </a:p>
        </p:txBody>
      </p:sp>
      <p:sp>
        <p:nvSpPr>
          <p:cNvPr id="43" name="Номер слайда"/>
          <p:cNvSpPr txBox="1"/>
          <p:nvPr>
            <p:ph type="sldNum" sz="quarter" idx="4294967295"/>
          </p:nvPr>
        </p:nvSpPr>
        <p:spPr>
          <a:xfrm>
            <a:off x="6472334" y="4496748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"/>
          <p:cNvSpPr txBox="1"/>
          <p:nvPr/>
        </p:nvSpPr>
        <p:spPr>
          <a:xfrm>
            <a:off x="548640" y="124459"/>
            <a:ext cx="8046719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1: Банковский счёт и ответственные лица</a:t>
            </a:r>
          </a:p>
        </p:txBody>
      </p:sp>
      <p:pic>
        <p:nvPicPr>
          <p:cNvPr id="4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1143000"/>
            <a:ext cx="3637440" cy="1645921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ext 2"/>
          <p:cNvSpPr txBox="1"/>
          <p:nvPr/>
        </p:nvSpPr>
        <p:spPr>
          <a:xfrm>
            <a:off x="548640" y="2881167"/>
            <a:ext cx="4572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Банковский счёт организации в ПАО Сбербанк</a:t>
            </a:r>
          </a:p>
        </p:txBody>
      </p:sp>
      <p:pic>
        <p:nvPicPr>
          <p:cNvPr id="4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8640" y="3200400"/>
            <a:ext cx="5029201" cy="1145234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Text 3"/>
          <p:cNvSpPr txBox="1"/>
          <p:nvPr/>
        </p:nvSpPr>
        <p:spPr>
          <a:xfrm>
            <a:off x="548640" y="4437880"/>
            <a:ext cx="5029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Лица с правом подписи: руководитель, гл. бухгалтер, кассир</a:t>
            </a:r>
          </a:p>
        </p:txBody>
      </p:sp>
      <p:sp>
        <p:nvSpPr>
          <p:cNvPr id="51" name="Shape 4"/>
          <p:cNvSpPr/>
          <p:nvPr/>
        </p:nvSpPr>
        <p:spPr>
          <a:xfrm>
            <a:off x="5669279" y="1005839"/>
            <a:ext cx="3108961" cy="23774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2" name="Shape 5"/>
          <p:cNvSpPr/>
          <p:nvPr/>
        </p:nvSpPr>
        <p:spPr>
          <a:xfrm>
            <a:off x="5669279" y="1005839"/>
            <a:ext cx="64009" cy="23774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6"/>
          <p:cNvSpPr txBox="1"/>
          <p:nvPr/>
        </p:nvSpPr>
        <p:spPr>
          <a:xfrm>
            <a:off x="5989319" y="1097279"/>
            <a:ext cx="2560322" cy="2597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1E2761"/>
                </a:solidFill>
              </a:defRPr>
            </a:pPr>
            <a:r>
              <a:t>Банковский счёт:</a:t>
            </a:r>
          </a:p>
          <a:p>
            <a:pPr>
              <a:defRPr sz="1300"/>
            </a:pPr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Номер счёта (20 цифр)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Банк: ПАО Сбербанк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Валюта: RUB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Тип: Расчётный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Списание без заявок</a:t>
            </a:r>
            <a:endParaRPr sz="1300"/>
          </a:p>
          <a:p>
            <a:pPr>
              <a:defRPr sz="1300"/>
            </a:pPr>
          </a:p>
          <a:p>
            <a:pPr>
              <a:defRPr b="1" sz="1300">
                <a:solidFill>
                  <a:srgbClr val="1E2761"/>
                </a:solidFill>
              </a:defRPr>
            </a:pPr>
            <a:r>
              <a:t>Ответственные лица:</a:t>
            </a:r>
          </a:p>
          <a:p>
            <a:pPr>
              <a:defRPr sz="1300"/>
            </a:pPr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Руководитель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Главный бухгалтер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Кассир</a:t>
            </a:r>
          </a:p>
        </p:txBody>
      </p:sp>
      <p:sp>
        <p:nvSpPr>
          <p:cNvPr id="54" name="Номер слайда"/>
          <p:cNvSpPr txBox="1"/>
          <p:nvPr>
            <p:ph type="sldNum" sz="quarter" idx="4294967295"/>
          </p:nvPr>
        </p:nvSpPr>
        <p:spPr>
          <a:xfrm>
            <a:off x="6694492" y="4603384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"/>
          <p:cNvSpPr txBox="1"/>
          <p:nvPr/>
        </p:nvSpPr>
        <p:spPr>
          <a:xfrm>
            <a:off x="548640" y="124459"/>
            <a:ext cx="8046719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1: Регистрация поставщика ООО "Парфюм"</a:t>
            </a:r>
          </a:p>
        </p:txBody>
      </p:sp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1005839"/>
            <a:ext cx="4551680" cy="3200401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ext 2"/>
          <p:cNvSpPr txBox="1"/>
          <p:nvPr/>
        </p:nvSpPr>
        <p:spPr>
          <a:xfrm>
            <a:off x="548640" y="4298487"/>
            <a:ext cx="4572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Помощник регистрации нового партнёра</a:t>
            </a:r>
          </a:p>
        </p:txBody>
      </p:sp>
      <p:sp>
        <p:nvSpPr>
          <p:cNvPr id="60" name="Shape 3"/>
          <p:cNvSpPr/>
          <p:nvPr/>
        </p:nvSpPr>
        <p:spPr>
          <a:xfrm>
            <a:off x="5486399" y="1005839"/>
            <a:ext cx="3291842" cy="3474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" name="Shape 4"/>
          <p:cNvSpPr/>
          <p:nvPr/>
        </p:nvSpPr>
        <p:spPr>
          <a:xfrm>
            <a:off x="5486400" y="1005839"/>
            <a:ext cx="64008" cy="347472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5"/>
          <p:cNvSpPr txBox="1"/>
          <p:nvPr/>
        </p:nvSpPr>
        <p:spPr>
          <a:xfrm>
            <a:off x="5806440" y="1097279"/>
            <a:ext cx="2743201" cy="1797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1E2761"/>
                </a:solidFill>
              </a:defRPr>
            </a:pPr>
            <a:r>
              <a:t>Зарегистрированы:</a:t>
            </a:r>
          </a:p>
          <a:p>
            <a:pPr>
              <a:defRPr sz="1300"/>
            </a:pPr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Тип: Компания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Юридическое лицо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Наименование: ООО "Парфюм"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E-mail: perfume@yandex.ru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Менеджер: Орлов А.В.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Группа: Поставщики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Тип отношений: Поставщик</a:t>
            </a:r>
          </a:p>
        </p:txBody>
      </p:sp>
      <p:sp>
        <p:nvSpPr>
          <p:cNvPr id="63" name="Номер слайда"/>
          <p:cNvSpPr txBox="1"/>
          <p:nvPr>
            <p:ph type="sldNum" sz="quarter" idx="4294967295"/>
          </p:nvPr>
        </p:nvSpPr>
        <p:spPr>
          <a:xfrm>
            <a:off x="6587856" y="4505635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"/>
          <p:cNvSpPr txBox="1"/>
          <p:nvPr/>
        </p:nvSpPr>
        <p:spPr>
          <a:xfrm>
            <a:off x="548640" y="124459"/>
            <a:ext cx="8046719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1: Банковские реквизиты поставщика</a:t>
            </a:r>
          </a:p>
        </p:txBody>
      </p:sp>
      <p:pic>
        <p:nvPicPr>
          <p:cNvPr id="6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1097280"/>
            <a:ext cx="2845934" cy="3291841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Text 2"/>
          <p:cNvSpPr txBox="1"/>
          <p:nvPr/>
        </p:nvSpPr>
        <p:spPr>
          <a:xfrm>
            <a:off x="548640" y="4481367"/>
            <a:ext cx="36576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Банк: ПАО "Банк «Санкт-Петербург»"</a:t>
            </a:r>
          </a:p>
        </p:txBody>
      </p:sp>
      <p:pic>
        <p:nvPicPr>
          <p:cNvPr id="6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89120" y="1097280"/>
            <a:ext cx="3831574" cy="1645921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Text 3"/>
          <p:cNvSpPr txBox="1"/>
          <p:nvPr/>
        </p:nvSpPr>
        <p:spPr>
          <a:xfrm>
            <a:off x="4389120" y="2835447"/>
            <a:ext cx="45720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Банковский счёт контрагента</a:t>
            </a:r>
          </a:p>
        </p:txBody>
      </p:sp>
      <p:sp>
        <p:nvSpPr>
          <p:cNvPr id="71" name="Shape 4"/>
          <p:cNvSpPr/>
          <p:nvPr/>
        </p:nvSpPr>
        <p:spPr>
          <a:xfrm>
            <a:off x="4389120" y="2834639"/>
            <a:ext cx="4389121" cy="16459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" name="Shape 5"/>
          <p:cNvSpPr/>
          <p:nvPr/>
        </p:nvSpPr>
        <p:spPr>
          <a:xfrm>
            <a:off x="4389120" y="2834639"/>
            <a:ext cx="64009" cy="164592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6"/>
          <p:cNvSpPr txBox="1"/>
          <p:nvPr/>
        </p:nvSpPr>
        <p:spPr>
          <a:xfrm>
            <a:off x="4709160" y="2926079"/>
            <a:ext cx="3840481" cy="1226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1E2761"/>
                </a:solidFill>
              </a:defRPr>
            </a:pPr>
            <a:r>
              <a:t>Реквизиты банка:</a:t>
            </a:r>
          </a:p>
          <a:p>
            <a:pPr>
              <a:defRPr sz="1300"/>
            </a:pPr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БИК: 044030790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Корр. счёт: 30101810900000000790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Город: Санкт-Петербург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Валюта счёта: RUB</a:t>
            </a:r>
          </a:p>
        </p:txBody>
      </p:sp>
      <p:sp>
        <p:nvSpPr>
          <p:cNvPr id="74" name="Номер слайда"/>
          <p:cNvSpPr txBox="1"/>
          <p:nvPr>
            <p:ph type="sldNum" sz="quarter" idx="4294967295"/>
          </p:nvPr>
        </p:nvSpPr>
        <p:spPr>
          <a:xfrm>
            <a:off x="6445675" y="4505635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1: Номенклатура</a:t>
            </a:r>
          </a:p>
        </p:txBody>
      </p:sp>
      <p:pic>
        <p:nvPicPr>
          <p:cNvPr id="7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1005839"/>
            <a:ext cx="4114801" cy="1215498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Text 2"/>
          <p:cNvSpPr txBox="1"/>
          <p:nvPr/>
        </p:nvSpPr>
        <p:spPr>
          <a:xfrm>
            <a:off x="548640" y="2313584"/>
            <a:ext cx="4114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Группа видов "Уходовые средства"</a:t>
            </a:r>
          </a:p>
        </p:txBody>
      </p:sp>
      <p:pic>
        <p:nvPicPr>
          <p:cNvPr id="8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8640" y="2560320"/>
            <a:ext cx="3143251" cy="2011680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ext 3"/>
          <p:cNvSpPr txBox="1"/>
          <p:nvPr/>
        </p:nvSpPr>
        <p:spPr>
          <a:xfrm>
            <a:off x="548640" y="4664247"/>
            <a:ext cx="4114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Список созданной номенклатуры</a:t>
            </a:r>
          </a:p>
        </p:txBody>
      </p:sp>
      <p:sp>
        <p:nvSpPr>
          <p:cNvPr id="82" name="Shape 4"/>
          <p:cNvSpPr/>
          <p:nvPr/>
        </p:nvSpPr>
        <p:spPr>
          <a:xfrm>
            <a:off x="5303520" y="1005839"/>
            <a:ext cx="3474721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3" name="Shape 5"/>
          <p:cNvSpPr/>
          <p:nvPr/>
        </p:nvSpPr>
        <p:spPr>
          <a:xfrm>
            <a:off x="5303520" y="1005839"/>
            <a:ext cx="64009" cy="7772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6"/>
          <p:cNvSpPr txBox="1"/>
          <p:nvPr/>
        </p:nvSpPr>
        <p:spPr>
          <a:xfrm>
            <a:off x="5577840" y="1192504"/>
            <a:ext cx="22860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Шампуни</a:t>
            </a:r>
          </a:p>
        </p:txBody>
      </p:sp>
      <p:sp>
        <p:nvSpPr>
          <p:cNvPr id="85" name="Text 7"/>
          <p:cNvSpPr txBox="1"/>
          <p:nvPr/>
        </p:nvSpPr>
        <p:spPr>
          <a:xfrm>
            <a:off x="7863840" y="1242058"/>
            <a:ext cx="7315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sz="1100"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Товар</a:t>
            </a:r>
          </a:p>
        </p:txBody>
      </p:sp>
      <p:sp>
        <p:nvSpPr>
          <p:cNvPr id="86" name="Text 8"/>
          <p:cNvSpPr txBox="1"/>
          <p:nvPr/>
        </p:nvSpPr>
        <p:spPr>
          <a:xfrm>
            <a:off x="5577840" y="1389888"/>
            <a:ext cx="3017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100 шт. x 400 руб.</a:t>
            </a:r>
          </a:p>
        </p:txBody>
      </p:sp>
      <p:sp>
        <p:nvSpPr>
          <p:cNvPr id="87" name="Shape 9"/>
          <p:cNvSpPr/>
          <p:nvPr/>
        </p:nvSpPr>
        <p:spPr>
          <a:xfrm>
            <a:off x="5303520" y="1920239"/>
            <a:ext cx="3474721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" name="Shape 10"/>
          <p:cNvSpPr/>
          <p:nvPr/>
        </p:nvSpPr>
        <p:spPr>
          <a:xfrm>
            <a:off x="5303520" y="1920239"/>
            <a:ext cx="64009" cy="7772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1"/>
          <p:cNvSpPr txBox="1"/>
          <p:nvPr/>
        </p:nvSpPr>
        <p:spPr>
          <a:xfrm>
            <a:off x="5577840" y="2106904"/>
            <a:ext cx="22860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Лосьоны для бритья</a:t>
            </a:r>
          </a:p>
        </p:txBody>
      </p:sp>
      <p:sp>
        <p:nvSpPr>
          <p:cNvPr id="90" name="Text 12"/>
          <p:cNvSpPr txBox="1"/>
          <p:nvPr/>
        </p:nvSpPr>
        <p:spPr>
          <a:xfrm>
            <a:off x="7863840" y="2156458"/>
            <a:ext cx="7315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sz="1100"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Товар</a:t>
            </a:r>
          </a:p>
        </p:txBody>
      </p:sp>
      <p:sp>
        <p:nvSpPr>
          <p:cNvPr id="91" name="Text 13"/>
          <p:cNvSpPr txBox="1"/>
          <p:nvPr/>
        </p:nvSpPr>
        <p:spPr>
          <a:xfrm>
            <a:off x="5577840" y="2304288"/>
            <a:ext cx="3017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300 шт. x 300 руб.</a:t>
            </a:r>
          </a:p>
        </p:txBody>
      </p:sp>
      <p:sp>
        <p:nvSpPr>
          <p:cNvPr id="92" name="Shape 14"/>
          <p:cNvSpPr/>
          <p:nvPr/>
        </p:nvSpPr>
        <p:spPr>
          <a:xfrm>
            <a:off x="5303520" y="2834639"/>
            <a:ext cx="3474721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3" name="Shape 15"/>
          <p:cNvSpPr/>
          <p:nvPr/>
        </p:nvSpPr>
        <p:spPr>
          <a:xfrm>
            <a:off x="5303520" y="2834639"/>
            <a:ext cx="64009" cy="7772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6"/>
          <p:cNvSpPr txBox="1"/>
          <p:nvPr/>
        </p:nvSpPr>
        <p:spPr>
          <a:xfrm>
            <a:off x="5577840" y="3021304"/>
            <a:ext cx="22860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Краски для волос</a:t>
            </a:r>
          </a:p>
        </p:txBody>
      </p:sp>
      <p:sp>
        <p:nvSpPr>
          <p:cNvPr id="95" name="Text 17"/>
          <p:cNvSpPr txBox="1"/>
          <p:nvPr/>
        </p:nvSpPr>
        <p:spPr>
          <a:xfrm>
            <a:off x="7863840" y="3070858"/>
            <a:ext cx="73152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sz="1100"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Товар</a:t>
            </a:r>
          </a:p>
        </p:txBody>
      </p:sp>
      <p:sp>
        <p:nvSpPr>
          <p:cNvPr id="96" name="Text 18"/>
          <p:cNvSpPr txBox="1"/>
          <p:nvPr/>
        </p:nvSpPr>
        <p:spPr>
          <a:xfrm>
            <a:off x="5577840" y="3218688"/>
            <a:ext cx="3017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200 шт. x 400 руб.</a:t>
            </a:r>
          </a:p>
        </p:txBody>
      </p:sp>
      <p:sp>
        <p:nvSpPr>
          <p:cNvPr id="97" name="Shape 19"/>
          <p:cNvSpPr/>
          <p:nvPr/>
        </p:nvSpPr>
        <p:spPr>
          <a:xfrm>
            <a:off x="5303520" y="3749040"/>
            <a:ext cx="3474721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" name="Shape 20"/>
          <p:cNvSpPr/>
          <p:nvPr/>
        </p:nvSpPr>
        <p:spPr>
          <a:xfrm>
            <a:off x="5303520" y="3749040"/>
            <a:ext cx="64009" cy="777241"/>
          </a:xfrm>
          <a:prstGeom prst="rect">
            <a:avLst/>
          </a:prstGeom>
          <a:solidFill>
            <a:srgbClr val="E8A83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21"/>
          <p:cNvSpPr txBox="1"/>
          <p:nvPr/>
        </p:nvSpPr>
        <p:spPr>
          <a:xfrm>
            <a:off x="5577840" y="3935704"/>
            <a:ext cx="228600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Доставка</a:t>
            </a:r>
          </a:p>
        </p:txBody>
      </p:sp>
      <p:sp>
        <p:nvSpPr>
          <p:cNvPr id="100" name="Text 22"/>
          <p:cNvSpPr txBox="1"/>
          <p:nvPr/>
        </p:nvSpPr>
        <p:spPr>
          <a:xfrm>
            <a:off x="7863840" y="3985258"/>
            <a:ext cx="73152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sz="1100">
                <a:solidFill>
                  <a:srgbClr val="E8A83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Услуга</a:t>
            </a:r>
          </a:p>
        </p:txBody>
      </p:sp>
      <p:sp>
        <p:nvSpPr>
          <p:cNvPr id="101" name="Text 23"/>
          <p:cNvSpPr txBox="1"/>
          <p:nvPr/>
        </p:nvSpPr>
        <p:spPr>
          <a:xfrm>
            <a:off x="5577840" y="4133088"/>
            <a:ext cx="301752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шт. x 1 000 руб.</a:t>
            </a:r>
          </a:p>
        </p:txBody>
      </p:sp>
      <p:sp>
        <p:nvSpPr>
          <p:cNvPr id="102" name="Номер слайда"/>
          <p:cNvSpPr txBox="1"/>
          <p:nvPr>
            <p:ph type="sldNum" sz="quarter" idx="4294967295"/>
          </p:nvPr>
        </p:nvSpPr>
        <p:spPr>
          <a:xfrm>
            <a:off x="6454562" y="4664247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1: Договор №35</a:t>
            </a:r>
          </a:p>
        </p:txBody>
      </p:sp>
      <p:pic>
        <p:nvPicPr>
          <p:cNvPr id="10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2024" y="1005839"/>
            <a:ext cx="6339951" cy="2743201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 2"/>
          <p:cNvSpPr txBox="1"/>
          <p:nvPr/>
        </p:nvSpPr>
        <p:spPr>
          <a:xfrm>
            <a:off x="548640" y="3903725"/>
            <a:ext cx="804671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Договор №35 с ООО "Парфюм" - цель: Закупка, статус: Действует</a:t>
            </a:r>
          </a:p>
        </p:txBody>
      </p:sp>
      <p:sp>
        <p:nvSpPr>
          <p:cNvPr id="108" name="Text 3"/>
          <p:cNvSpPr txBox="1"/>
          <p:nvPr/>
        </p:nvSpPr>
        <p:spPr>
          <a:xfrm>
            <a:off x="594360" y="4204139"/>
            <a:ext cx="7955279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300">
                <a:solidFill>
                  <a:srgbClr val="1E2761"/>
                </a:solidFill>
              </a:defRPr>
            </a:pPr>
            <a:r>
              <a:t>Стороны: </a:t>
            </a:r>
            <a:r>
              <a:rPr b="0">
                <a:solidFill>
                  <a:srgbClr val="2D2D2D"/>
                </a:solidFill>
              </a:rPr>
              <a:t>Организация (Торговый дом ЗАО) / Поставщик (ООО "Парфюм")   |   Банковские счета сторон   |   Менеджер   |   Наименование для печати</a:t>
            </a:r>
          </a:p>
        </p:txBody>
      </p:sp>
      <p:sp>
        <p:nvSpPr>
          <p:cNvPr id="109" name="Номер слайда"/>
          <p:cNvSpPr txBox="1"/>
          <p:nvPr>
            <p:ph type="sldNum" sz="quarter" idx="4294967295"/>
          </p:nvPr>
        </p:nvSpPr>
        <p:spPr>
          <a:xfrm>
            <a:off x="6641174" y="4541180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1: Вид цены и соглашение</a:t>
            </a:r>
          </a:p>
        </p:txBody>
      </p:sp>
      <p:pic>
        <p:nvPicPr>
          <p:cNvPr id="11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1005839"/>
            <a:ext cx="3840480" cy="1721595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 2"/>
          <p:cNvSpPr txBox="1"/>
          <p:nvPr/>
        </p:nvSpPr>
        <p:spPr>
          <a:xfrm>
            <a:off x="548640" y="2819681"/>
            <a:ext cx="384048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Вид цены: Оптовая (с НДС), валюта RUB</a:t>
            </a:r>
          </a:p>
        </p:txBody>
      </p:sp>
      <p:pic>
        <p:nvPicPr>
          <p:cNvPr id="11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21161" y="2919729"/>
            <a:ext cx="3901678" cy="1828801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ext 3"/>
          <p:cNvSpPr txBox="1"/>
          <p:nvPr/>
        </p:nvSpPr>
        <p:spPr>
          <a:xfrm>
            <a:off x="548640" y="4821727"/>
            <a:ext cx="8046720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Соглашение №35: закупка у поставщика, склад, вид цены, договор</a:t>
            </a:r>
          </a:p>
        </p:txBody>
      </p:sp>
      <p:sp>
        <p:nvSpPr>
          <p:cNvPr id="117" name="Shape 4"/>
          <p:cNvSpPr/>
          <p:nvPr/>
        </p:nvSpPr>
        <p:spPr>
          <a:xfrm>
            <a:off x="4846320" y="1005839"/>
            <a:ext cx="3931921" cy="17373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" name="Shape 5"/>
          <p:cNvSpPr/>
          <p:nvPr/>
        </p:nvSpPr>
        <p:spPr>
          <a:xfrm>
            <a:off x="4846320" y="1005839"/>
            <a:ext cx="64009" cy="173736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6"/>
          <p:cNvSpPr txBox="1"/>
          <p:nvPr/>
        </p:nvSpPr>
        <p:spPr>
          <a:xfrm>
            <a:off x="5166360" y="1051559"/>
            <a:ext cx="3383281" cy="1416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1E2761"/>
                </a:solidFill>
              </a:defRPr>
            </a:pPr>
            <a:r>
              <a:t>Настроено:</a:t>
            </a:r>
          </a:p>
          <a:p>
            <a:pPr>
              <a:defRPr sz="1300"/>
            </a:pPr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Цена включает НДС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Доступен для закупки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Доступен для клиентов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Соглашение: статус Действует</a:t>
            </a:r>
            <a:endParaRPr sz="1300"/>
          </a:p>
          <a:p>
            <a:pPr marL="342900" indent="-342900">
              <a:buSzPct val="100000"/>
              <a:buChar char="•"/>
              <a:defRPr sz="1200">
                <a:solidFill>
                  <a:srgbClr val="2D2D2D"/>
                </a:solidFill>
              </a:defRPr>
            </a:pPr>
            <a:r>
              <a:t>Менеджер: Орлов А.В.</a:t>
            </a:r>
          </a:p>
        </p:txBody>
      </p:sp>
      <p:sp>
        <p:nvSpPr>
          <p:cNvPr id="120" name="Номер слайда"/>
          <p:cNvSpPr txBox="1"/>
          <p:nvPr>
            <p:ph type="sldNum" sz="quarter" idx="4294967295"/>
          </p:nvPr>
        </p:nvSpPr>
        <p:spPr>
          <a:xfrm>
            <a:off x="6756696" y="4749799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1: Заказ поставщику</a:t>
            </a:r>
          </a:p>
        </p:txBody>
      </p:sp>
      <p:pic>
        <p:nvPicPr>
          <p:cNvPr id="12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43711" y="1005839"/>
            <a:ext cx="6056578" cy="3474722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ext 2"/>
          <p:cNvSpPr txBox="1"/>
          <p:nvPr/>
        </p:nvSpPr>
        <p:spPr>
          <a:xfrm>
            <a:off x="548640" y="4622752"/>
            <a:ext cx="804671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Заказ поставщику: 4 позиции, общая сумма 211 000 руб., статус: Подтверждён</a:t>
            </a:r>
          </a:p>
        </p:txBody>
      </p:sp>
      <p:sp>
        <p:nvSpPr>
          <p:cNvPr id="126" name="Номер слайда"/>
          <p:cNvSpPr txBox="1"/>
          <p:nvPr>
            <p:ph type="sldNum" sz="quarter" idx="4294967295"/>
          </p:nvPr>
        </p:nvSpPr>
        <p:spPr>
          <a:xfrm>
            <a:off x="6765582" y="4657089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1: Оплата поставщику</a:t>
            </a:r>
          </a:p>
        </p:txBody>
      </p:sp>
      <p:pic>
        <p:nvPicPr>
          <p:cNvPr id="13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8020" y="1005839"/>
            <a:ext cx="6287959" cy="3474722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ext 2"/>
          <p:cNvSpPr txBox="1"/>
          <p:nvPr/>
        </p:nvSpPr>
        <p:spPr>
          <a:xfrm>
            <a:off x="548640" y="4622752"/>
            <a:ext cx="804671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Списание безналичных ДС: оплата поставщику 211 000 руб., проведено банком</a:t>
            </a:r>
          </a:p>
        </p:txBody>
      </p:sp>
      <p:sp>
        <p:nvSpPr>
          <p:cNvPr id="132" name="Номер слайда"/>
          <p:cNvSpPr txBox="1"/>
          <p:nvPr>
            <p:ph type="sldNum" sz="quarter" idx="4294967295"/>
          </p:nvPr>
        </p:nvSpPr>
        <p:spPr>
          <a:xfrm>
            <a:off x="6676719" y="4569459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1: Приёмка и проверка на складе</a:t>
            </a:r>
          </a:p>
        </p:txBody>
      </p:sp>
      <p:pic>
        <p:nvPicPr>
          <p:cNvPr id="1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15486" y="1005839"/>
            <a:ext cx="4113028" cy="3474722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 2"/>
          <p:cNvSpPr txBox="1"/>
          <p:nvPr/>
        </p:nvSpPr>
        <p:spPr>
          <a:xfrm>
            <a:off x="548640" y="4622752"/>
            <a:ext cx="804671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Ведомость по товарам на складах - товары поступили</a:t>
            </a:r>
          </a:p>
        </p:txBody>
      </p:sp>
      <p:sp>
        <p:nvSpPr>
          <p:cNvPr id="138" name="Shape 3"/>
          <p:cNvSpPr/>
          <p:nvPr/>
        </p:nvSpPr>
        <p:spPr>
          <a:xfrm>
            <a:off x="1371600" y="4571999"/>
            <a:ext cx="6400800" cy="411482"/>
          </a:xfrm>
          <a:prstGeom prst="rect">
            <a:avLst/>
          </a:prstGeom>
          <a:solidFill>
            <a:srgbClr val="E8F5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4"/>
          <p:cNvSpPr txBox="1"/>
          <p:nvPr/>
        </p:nvSpPr>
        <p:spPr>
          <a:xfrm>
            <a:off x="1554479" y="4589940"/>
            <a:ext cx="6035042" cy="37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2D7A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Бизнес-задача выполнена: товары оплачены, приняты и подтверждены на складе</a:t>
            </a:r>
          </a:p>
        </p:txBody>
      </p:sp>
      <p:sp>
        <p:nvSpPr>
          <p:cNvPr id="140" name="Номер слайда"/>
          <p:cNvSpPr txBox="1"/>
          <p:nvPr>
            <p:ph type="sldNum" sz="quarter" idx="4294967295"/>
          </p:nvPr>
        </p:nvSpPr>
        <p:spPr>
          <a:xfrm>
            <a:off x="6436789" y="4569459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Text 1"/>
          <p:cNvSpPr txBox="1"/>
          <p:nvPr/>
        </p:nvSpPr>
        <p:spPr>
          <a:xfrm>
            <a:off x="731520" y="838200"/>
            <a:ext cx="768096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Задание 2</a:t>
            </a:r>
          </a:p>
        </p:txBody>
      </p:sp>
      <p:sp>
        <p:nvSpPr>
          <p:cNvPr id="144" name="Text 2"/>
          <p:cNvSpPr txBox="1"/>
          <p:nvPr/>
        </p:nvSpPr>
        <p:spPr>
          <a:xfrm>
            <a:off x="731520" y="1562029"/>
            <a:ext cx="7680960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Сопоставление атрибутов с архитектурой данных</a:t>
            </a:r>
          </a:p>
        </p:txBody>
      </p:sp>
      <p:sp>
        <p:nvSpPr>
          <p:cNvPr id="145" name="Shape 3"/>
          <p:cNvSpPr/>
          <p:nvPr/>
        </p:nvSpPr>
        <p:spPr>
          <a:xfrm>
            <a:off x="731519" y="2468879"/>
            <a:ext cx="2468882" cy="2103121"/>
          </a:xfrm>
          <a:prstGeom prst="rect">
            <a:avLst/>
          </a:prstGeom>
          <a:solidFill>
            <a:srgbClr val="2B3D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4"/>
          <p:cNvSpPr txBox="1"/>
          <p:nvPr/>
        </p:nvSpPr>
        <p:spPr>
          <a:xfrm>
            <a:off x="914399" y="2642870"/>
            <a:ext cx="210312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Цель</a:t>
            </a:r>
          </a:p>
        </p:txBody>
      </p:sp>
      <p:sp>
        <p:nvSpPr>
          <p:cNvPr id="147" name="Text 5"/>
          <p:cNvSpPr txBox="1"/>
          <p:nvPr/>
        </p:nvSpPr>
        <p:spPr>
          <a:xfrm>
            <a:off x="914399" y="3108960"/>
            <a:ext cx="2103122" cy="756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Для каждого заполненного атрибута найти его в архитектуре данных платформы</a:t>
            </a:r>
          </a:p>
        </p:txBody>
      </p:sp>
      <p:sp>
        <p:nvSpPr>
          <p:cNvPr id="148" name="Shape 6"/>
          <p:cNvSpPr/>
          <p:nvPr/>
        </p:nvSpPr>
        <p:spPr>
          <a:xfrm>
            <a:off x="3474720" y="2468879"/>
            <a:ext cx="2468881" cy="2103121"/>
          </a:xfrm>
          <a:prstGeom prst="rect">
            <a:avLst/>
          </a:prstGeom>
          <a:solidFill>
            <a:srgbClr val="2B3D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7"/>
          <p:cNvSpPr txBox="1"/>
          <p:nvPr/>
        </p:nvSpPr>
        <p:spPr>
          <a:xfrm>
            <a:off x="3657599" y="2642870"/>
            <a:ext cx="210312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Инструмент</a:t>
            </a:r>
          </a:p>
        </p:txBody>
      </p:sp>
      <p:sp>
        <p:nvSpPr>
          <p:cNvPr id="150" name="Text 8"/>
          <p:cNvSpPr txBox="1"/>
          <p:nvPr/>
        </p:nvSpPr>
        <p:spPr>
          <a:xfrm>
            <a:off x="3657599" y="3108960"/>
            <a:ext cx="2103122" cy="756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Конфигуратор 1С - дерево метаданных, свойства реквизитов, формы объектов</a:t>
            </a:r>
          </a:p>
        </p:txBody>
      </p:sp>
      <p:sp>
        <p:nvSpPr>
          <p:cNvPr id="151" name="Shape 9"/>
          <p:cNvSpPr/>
          <p:nvPr/>
        </p:nvSpPr>
        <p:spPr>
          <a:xfrm>
            <a:off x="6217920" y="2468879"/>
            <a:ext cx="2468881" cy="2103121"/>
          </a:xfrm>
          <a:prstGeom prst="rect">
            <a:avLst/>
          </a:prstGeom>
          <a:solidFill>
            <a:srgbClr val="2B3D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ext 10"/>
          <p:cNvSpPr txBox="1"/>
          <p:nvPr/>
        </p:nvSpPr>
        <p:spPr>
          <a:xfrm>
            <a:off x="6400799" y="2642870"/>
            <a:ext cx="210312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Результат</a:t>
            </a:r>
          </a:p>
        </p:txBody>
      </p:sp>
      <p:sp>
        <p:nvSpPr>
          <p:cNvPr id="153" name="Text 11"/>
          <p:cNvSpPr txBox="1"/>
          <p:nvPr/>
        </p:nvSpPr>
        <p:spPr>
          <a:xfrm>
            <a:off x="6400799" y="3108960"/>
            <a:ext cx="2103122" cy="756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Объект, тип метаданных, имя реквизита, форма, элемент управления, тип данных</a:t>
            </a:r>
          </a:p>
        </p:txBody>
      </p:sp>
      <p:sp>
        <p:nvSpPr>
          <p:cNvPr id="154" name="Shape 12"/>
          <p:cNvSpPr/>
          <p:nvPr/>
        </p:nvSpPr>
        <p:spPr>
          <a:xfrm>
            <a:off x="0" y="4937759"/>
            <a:ext cx="9144000" cy="2057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Обзор объектов метаданных</a:t>
            </a:r>
          </a:p>
        </p:txBody>
      </p:sp>
      <p:sp>
        <p:nvSpPr>
          <p:cNvPr id="159" name="Shape 2"/>
          <p:cNvSpPr/>
          <p:nvPr/>
        </p:nvSpPr>
        <p:spPr>
          <a:xfrm>
            <a:off x="457199" y="1005839"/>
            <a:ext cx="1554482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0" name="Text 3"/>
          <p:cNvSpPr txBox="1"/>
          <p:nvPr/>
        </p:nvSpPr>
        <p:spPr>
          <a:xfrm>
            <a:off x="457199" y="1047749"/>
            <a:ext cx="1554482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600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105</a:t>
            </a:r>
          </a:p>
        </p:txBody>
      </p:sp>
      <p:sp>
        <p:nvSpPr>
          <p:cNvPr id="161" name="Text 4"/>
          <p:cNvSpPr txBox="1"/>
          <p:nvPr/>
        </p:nvSpPr>
        <p:spPr>
          <a:xfrm>
            <a:off x="457199" y="1691639"/>
            <a:ext cx="15544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атрибутов</a:t>
            </a:r>
          </a:p>
        </p:txBody>
      </p:sp>
      <p:sp>
        <p:nvSpPr>
          <p:cNvPr id="162" name="Shape 5"/>
          <p:cNvSpPr/>
          <p:nvPr/>
        </p:nvSpPr>
        <p:spPr>
          <a:xfrm>
            <a:off x="2194560" y="1005839"/>
            <a:ext cx="1554481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" name="Text 6"/>
          <p:cNvSpPr txBox="1"/>
          <p:nvPr/>
        </p:nvSpPr>
        <p:spPr>
          <a:xfrm>
            <a:off x="2194560" y="1047749"/>
            <a:ext cx="155448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600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164" name="Text 7"/>
          <p:cNvSpPr txBox="1"/>
          <p:nvPr/>
        </p:nvSpPr>
        <p:spPr>
          <a:xfrm>
            <a:off x="2194560" y="1691639"/>
            <a:ext cx="15544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объектов</a:t>
            </a:r>
          </a:p>
        </p:txBody>
      </p:sp>
      <p:sp>
        <p:nvSpPr>
          <p:cNvPr id="165" name="Shape 8"/>
          <p:cNvSpPr/>
          <p:nvPr/>
        </p:nvSpPr>
        <p:spPr>
          <a:xfrm>
            <a:off x="3931920" y="1005839"/>
            <a:ext cx="1554481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6" name="Text 9"/>
          <p:cNvSpPr txBox="1"/>
          <p:nvPr/>
        </p:nvSpPr>
        <p:spPr>
          <a:xfrm>
            <a:off x="3931920" y="1047749"/>
            <a:ext cx="155448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600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67" name="Text 10"/>
          <p:cNvSpPr txBox="1"/>
          <p:nvPr/>
        </p:nvSpPr>
        <p:spPr>
          <a:xfrm>
            <a:off x="3931920" y="1691639"/>
            <a:ext cx="15544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справочников</a:t>
            </a:r>
          </a:p>
        </p:txBody>
      </p:sp>
      <p:sp>
        <p:nvSpPr>
          <p:cNvPr id="168" name="Shape 11"/>
          <p:cNvSpPr/>
          <p:nvPr/>
        </p:nvSpPr>
        <p:spPr>
          <a:xfrm>
            <a:off x="5669279" y="1005839"/>
            <a:ext cx="1554481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" name="Text 12"/>
          <p:cNvSpPr txBox="1"/>
          <p:nvPr/>
        </p:nvSpPr>
        <p:spPr>
          <a:xfrm>
            <a:off x="5669279" y="1047749"/>
            <a:ext cx="155448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600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0" name="Text 13"/>
          <p:cNvSpPr txBox="1"/>
          <p:nvPr/>
        </p:nvSpPr>
        <p:spPr>
          <a:xfrm>
            <a:off x="5669279" y="1691639"/>
            <a:ext cx="15544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документа</a:t>
            </a:r>
          </a:p>
        </p:txBody>
      </p:sp>
      <p:sp>
        <p:nvSpPr>
          <p:cNvPr id="171" name="Shape 14"/>
          <p:cNvSpPr/>
          <p:nvPr/>
        </p:nvSpPr>
        <p:spPr>
          <a:xfrm>
            <a:off x="7406640" y="1005839"/>
            <a:ext cx="1554481" cy="11887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2" name="Text 15"/>
          <p:cNvSpPr txBox="1"/>
          <p:nvPr/>
        </p:nvSpPr>
        <p:spPr>
          <a:xfrm>
            <a:off x="7406640" y="1047749"/>
            <a:ext cx="1554481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600">
                <a:solidFill>
                  <a:srgbClr val="4A90D9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3" name="Text 16"/>
          <p:cNvSpPr txBox="1"/>
          <p:nvPr/>
        </p:nvSpPr>
        <p:spPr>
          <a:xfrm>
            <a:off x="7406640" y="1691639"/>
            <a:ext cx="15544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отчёт</a:t>
            </a:r>
          </a:p>
        </p:txBody>
      </p:sp>
      <p:sp>
        <p:nvSpPr>
          <p:cNvPr id="174" name="Text 17"/>
          <p:cNvSpPr txBox="1"/>
          <p:nvPr/>
        </p:nvSpPr>
        <p:spPr>
          <a:xfrm>
            <a:off x="548640" y="2540783"/>
            <a:ext cx="82296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Распределение по типам данных</a:t>
            </a:r>
          </a:p>
        </p:txBody>
      </p:sp>
      <p:sp>
        <p:nvSpPr>
          <p:cNvPr id="175" name="Text 18"/>
          <p:cNvSpPr txBox="1"/>
          <p:nvPr/>
        </p:nvSpPr>
        <p:spPr>
          <a:xfrm>
            <a:off x="457199" y="3022552"/>
            <a:ext cx="256032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СправочникСсылка</a:t>
            </a:r>
          </a:p>
        </p:txBody>
      </p:sp>
      <p:sp>
        <p:nvSpPr>
          <p:cNvPr id="176" name="Shape 19"/>
          <p:cNvSpPr/>
          <p:nvPr/>
        </p:nvSpPr>
        <p:spPr>
          <a:xfrm>
            <a:off x="3200400" y="2990088"/>
            <a:ext cx="2011679" cy="237744"/>
          </a:xfrm>
          <a:prstGeom prst="rect">
            <a:avLst/>
          </a:prstGeom>
          <a:solidFill>
            <a:srgbClr val="2B57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20"/>
          <p:cNvSpPr txBox="1"/>
          <p:nvPr/>
        </p:nvSpPr>
        <p:spPr>
          <a:xfrm>
            <a:off x="5349240" y="3022552"/>
            <a:ext cx="1371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46 (44%)</a:t>
            </a:r>
          </a:p>
        </p:txBody>
      </p:sp>
      <p:sp>
        <p:nvSpPr>
          <p:cNvPr id="178" name="Text 21"/>
          <p:cNvSpPr txBox="1"/>
          <p:nvPr/>
        </p:nvSpPr>
        <p:spPr>
          <a:xfrm>
            <a:off x="457199" y="3388312"/>
            <a:ext cx="256032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ПеречислениеСсылка</a:t>
            </a:r>
          </a:p>
        </p:txBody>
      </p:sp>
      <p:sp>
        <p:nvSpPr>
          <p:cNvPr id="179" name="Shape 22"/>
          <p:cNvSpPr/>
          <p:nvPr/>
        </p:nvSpPr>
        <p:spPr>
          <a:xfrm>
            <a:off x="3200400" y="3355847"/>
            <a:ext cx="594360" cy="23774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23"/>
          <p:cNvSpPr txBox="1"/>
          <p:nvPr/>
        </p:nvSpPr>
        <p:spPr>
          <a:xfrm>
            <a:off x="3931920" y="3388312"/>
            <a:ext cx="13716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 (13%)</a:t>
            </a:r>
          </a:p>
        </p:txBody>
      </p:sp>
      <p:sp>
        <p:nvSpPr>
          <p:cNvPr id="181" name="Text 24"/>
          <p:cNvSpPr txBox="1"/>
          <p:nvPr/>
        </p:nvSpPr>
        <p:spPr>
          <a:xfrm>
            <a:off x="457199" y="3754072"/>
            <a:ext cx="256032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Строка</a:t>
            </a:r>
          </a:p>
        </p:txBody>
      </p:sp>
      <p:sp>
        <p:nvSpPr>
          <p:cNvPr id="182" name="Shape 25"/>
          <p:cNvSpPr/>
          <p:nvPr/>
        </p:nvSpPr>
        <p:spPr>
          <a:xfrm>
            <a:off x="3200399" y="3721608"/>
            <a:ext cx="777242" cy="237744"/>
          </a:xfrm>
          <a:prstGeom prst="rect">
            <a:avLst/>
          </a:prstGeom>
          <a:solidFill>
            <a:srgbClr val="7BB3E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26"/>
          <p:cNvSpPr txBox="1"/>
          <p:nvPr/>
        </p:nvSpPr>
        <p:spPr>
          <a:xfrm>
            <a:off x="4114800" y="3754072"/>
            <a:ext cx="13716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18 (17%)</a:t>
            </a:r>
          </a:p>
        </p:txBody>
      </p:sp>
      <p:sp>
        <p:nvSpPr>
          <p:cNvPr id="184" name="Text 27"/>
          <p:cNvSpPr txBox="1"/>
          <p:nvPr/>
        </p:nvSpPr>
        <p:spPr>
          <a:xfrm>
            <a:off x="457199" y="4119832"/>
            <a:ext cx="256032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ОпределяемыйТип</a:t>
            </a:r>
          </a:p>
        </p:txBody>
      </p:sp>
      <p:sp>
        <p:nvSpPr>
          <p:cNvPr id="185" name="Shape 28"/>
          <p:cNvSpPr/>
          <p:nvPr/>
        </p:nvSpPr>
        <p:spPr>
          <a:xfrm>
            <a:off x="3200400" y="4087367"/>
            <a:ext cx="457200" cy="237744"/>
          </a:xfrm>
          <a:prstGeom prst="rect">
            <a:avLst/>
          </a:prstGeom>
          <a:solidFill>
            <a:srgbClr val="A8CB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29"/>
          <p:cNvSpPr txBox="1"/>
          <p:nvPr/>
        </p:nvSpPr>
        <p:spPr>
          <a:xfrm>
            <a:off x="3794759" y="4119832"/>
            <a:ext cx="1371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 (10%)</a:t>
            </a:r>
          </a:p>
        </p:txBody>
      </p:sp>
      <p:sp>
        <p:nvSpPr>
          <p:cNvPr id="187" name="Text 30"/>
          <p:cNvSpPr txBox="1"/>
          <p:nvPr/>
        </p:nvSpPr>
        <p:spPr>
          <a:xfrm>
            <a:off x="457199" y="4485593"/>
            <a:ext cx="2560322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Булево</a:t>
            </a:r>
          </a:p>
        </p:txBody>
      </p:sp>
      <p:sp>
        <p:nvSpPr>
          <p:cNvPr id="188" name="Shape 31"/>
          <p:cNvSpPr/>
          <p:nvPr/>
        </p:nvSpPr>
        <p:spPr>
          <a:xfrm>
            <a:off x="3200399" y="4453128"/>
            <a:ext cx="365762" cy="237744"/>
          </a:xfrm>
          <a:prstGeom prst="rect">
            <a:avLst/>
          </a:prstGeom>
          <a:solidFill>
            <a:srgbClr val="BDD7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32"/>
          <p:cNvSpPr txBox="1"/>
          <p:nvPr/>
        </p:nvSpPr>
        <p:spPr>
          <a:xfrm>
            <a:off x="3703320" y="4485593"/>
            <a:ext cx="137160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 (8%)</a:t>
            </a:r>
          </a:p>
        </p:txBody>
      </p:sp>
      <p:sp>
        <p:nvSpPr>
          <p:cNvPr id="190" name="Text 33"/>
          <p:cNvSpPr txBox="1"/>
          <p:nvPr/>
        </p:nvSpPr>
        <p:spPr>
          <a:xfrm>
            <a:off x="457199" y="4851352"/>
            <a:ext cx="256032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Число / Дата</a:t>
            </a:r>
          </a:p>
        </p:txBody>
      </p:sp>
      <p:sp>
        <p:nvSpPr>
          <p:cNvPr id="191" name="Shape 34"/>
          <p:cNvSpPr/>
          <p:nvPr/>
        </p:nvSpPr>
        <p:spPr>
          <a:xfrm>
            <a:off x="3200399" y="4818888"/>
            <a:ext cx="365762" cy="237744"/>
          </a:xfrm>
          <a:prstGeom prst="rect">
            <a:avLst/>
          </a:prstGeom>
          <a:solidFill>
            <a:srgbClr val="D5E5F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35"/>
          <p:cNvSpPr txBox="1"/>
          <p:nvPr/>
        </p:nvSpPr>
        <p:spPr>
          <a:xfrm>
            <a:off x="3703320" y="4851352"/>
            <a:ext cx="1371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 (8%)</a:t>
            </a:r>
          </a:p>
        </p:txBody>
      </p:sp>
      <p:sp>
        <p:nvSpPr>
          <p:cNvPr id="193" name="Номер слайда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Справочники (12 объектов)</a:t>
            </a:r>
          </a:p>
        </p:txBody>
      </p:sp>
      <p:graphicFrame>
        <p:nvGraphicFramePr>
          <p:cNvPr id="197" name="Table 0"/>
          <p:cNvGraphicFramePr/>
          <p:nvPr/>
        </p:nvGraphicFramePr>
        <p:xfrm>
          <a:off x="457200" y="1005839"/>
          <a:ext cx="8229600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926080"/>
                <a:gridCol w="640080"/>
                <a:gridCol w="4663440"/>
              </a:tblGrid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Справочник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Атр.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Основные типы данных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2B579A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Организации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Строка, Перечисление, ОпределяемыйТип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БанковскиеСчетаОрганизаций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Строка, СправочникСсылка, Перечисление, Булево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ОтветственныеЛицаОрганизаций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Перечисление, СправочникСсылка, Дата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Партнеры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Строка, СправочникСсылка, Булево, Перечисление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Контрагенты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Строка, ПеречислениеСсылка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КлассификаторБанков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БанковскиеСчетаКонтрагентов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Строка, СправочникСсылка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ВидыНоменклатуры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Строка, ПеречислениеСсылка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Номенклатура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Строка, СправочникСсылка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ДоговорыКонтрагентов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Строка, СправочникСсылка, Перечисление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ВидыЦенПоставщиков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Строка, СправочникСсылка, Булево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2D2D2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СоглашенияСПоставщиками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4A90D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Строка, СправочникСсылка, Перечисление, Булево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198" name="Номер слайда"/>
          <p:cNvSpPr txBox="1"/>
          <p:nvPr>
            <p:ph type="sldNum" sz="quarter" idx="4294967295"/>
          </p:nvPr>
        </p:nvSpPr>
        <p:spPr>
          <a:xfrm>
            <a:off x="4828369" y="4541180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Документы и отчёт</a:t>
            </a:r>
          </a:p>
        </p:txBody>
      </p:sp>
      <p:sp>
        <p:nvSpPr>
          <p:cNvPr id="202" name="Shape 2"/>
          <p:cNvSpPr/>
          <p:nvPr/>
        </p:nvSpPr>
        <p:spPr>
          <a:xfrm>
            <a:off x="457200" y="1005839"/>
            <a:ext cx="822960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" name="Shape 3"/>
          <p:cNvSpPr/>
          <p:nvPr/>
        </p:nvSpPr>
        <p:spPr>
          <a:xfrm>
            <a:off x="457200" y="1005839"/>
            <a:ext cx="64008" cy="7772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4"/>
          <p:cNvSpPr txBox="1"/>
          <p:nvPr/>
        </p:nvSpPr>
        <p:spPr>
          <a:xfrm>
            <a:off x="731519" y="1174216"/>
            <a:ext cx="45720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ЗаказПоставщику</a:t>
            </a:r>
          </a:p>
        </p:txBody>
      </p:sp>
      <p:sp>
        <p:nvSpPr>
          <p:cNvPr id="205" name="Text 5"/>
          <p:cNvSpPr txBox="1"/>
          <p:nvPr/>
        </p:nvSpPr>
        <p:spPr>
          <a:xfrm>
            <a:off x="7040880" y="1186501"/>
            <a:ext cx="146304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b="1" sz="1300"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 атрибутов</a:t>
            </a:r>
          </a:p>
        </p:txBody>
      </p:sp>
      <p:sp>
        <p:nvSpPr>
          <p:cNvPr id="206" name="Text 6"/>
          <p:cNvSpPr txBox="1"/>
          <p:nvPr/>
        </p:nvSpPr>
        <p:spPr>
          <a:xfrm>
            <a:off x="731519" y="1371599"/>
            <a:ext cx="77724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Статус, соглашение, договор, склад + таб. часть Товары</a:t>
            </a:r>
          </a:p>
        </p:txBody>
      </p:sp>
      <p:sp>
        <p:nvSpPr>
          <p:cNvPr id="207" name="Shape 7"/>
          <p:cNvSpPr/>
          <p:nvPr/>
        </p:nvSpPr>
        <p:spPr>
          <a:xfrm>
            <a:off x="457200" y="1920239"/>
            <a:ext cx="822960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" name="Shape 8"/>
          <p:cNvSpPr/>
          <p:nvPr/>
        </p:nvSpPr>
        <p:spPr>
          <a:xfrm>
            <a:off x="457200" y="1920239"/>
            <a:ext cx="64008" cy="7772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9"/>
          <p:cNvSpPr txBox="1"/>
          <p:nvPr/>
        </p:nvSpPr>
        <p:spPr>
          <a:xfrm>
            <a:off x="731519" y="2088616"/>
            <a:ext cx="45720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ПриобретениеТоваровУслуг</a:t>
            </a:r>
          </a:p>
        </p:txBody>
      </p:sp>
      <p:sp>
        <p:nvSpPr>
          <p:cNvPr id="210" name="Text 10"/>
          <p:cNvSpPr txBox="1"/>
          <p:nvPr/>
        </p:nvSpPr>
        <p:spPr>
          <a:xfrm>
            <a:off x="7040880" y="2100901"/>
            <a:ext cx="146304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b="1" sz="1300"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 атрибутов</a:t>
            </a:r>
          </a:p>
        </p:txBody>
      </p:sp>
      <p:sp>
        <p:nvSpPr>
          <p:cNvPr id="211" name="Text 11"/>
          <p:cNvSpPr txBox="1"/>
          <p:nvPr/>
        </p:nvSpPr>
        <p:spPr>
          <a:xfrm>
            <a:off x="731519" y="2285999"/>
            <a:ext cx="77724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Операция, поставщик, организация, соглашение, валюта + таб. часть Товары</a:t>
            </a:r>
          </a:p>
        </p:txBody>
      </p:sp>
      <p:sp>
        <p:nvSpPr>
          <p:cNvPr id="212" name="Shape 12"/>
          <p:cNvSpPr/>
          <p:nvPr/>
        </p:nvSpPr>
        <p:spPr>
          <a:xfrm>
            <a:off x="457200" y="2834639"/>
            <a:ext cx="822960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" name="Shape 13"/>
          <p:cNvSpPr/>
          <p:nvPr/>
        </p:nvSpPr>
        <p:spPr>
          <a:xfrm>
            <a:off x="457200" y="2834639"/>
            <a:ext cx="64008" cy="7772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14"/>
          <p:cNvSpPr txBox="1"/>
          <p:nvPr/>
        </p:nvSpPr>
        <p:spPr>
          <a:xfrm>
            <a:off x="731519" y="3003016"/>
            <a:ext cx="45720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СписаниеБезналичныхДС</a:t>
            </a:r>
          </a:p>
        </p:txBody>
      </p:sp>
      <p:sp>
        <p:nvSpPr>
          <p:cNvPr id="215" name="Text 15"/>
          <p:cNvSpPr txBox="1"/>
          <p:nvPr/>
        </p:nvSpPr>
        <p:spPr>
          <a:xfrm>
            <a:off x="7040880" y="3015301"/>
            <a:ext cx="146304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b="1" sz="1300"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 атрибутов</a:t>
            </a:r>
          </a:p>
        </p:txBody>
      </p:sp>
      <p:sp>
        <p:nvSpPr>
          <p:cNvPr id="216" name="Text 16"/>
          <p:cNvSpPr txBox="1"/>
          <p:nvPr/>
        </p:nvSpPr>
        <p:spPr>
          <a:xfrm>
            <a:off x="731519" y="3200399"/>
            <a:ext cx="77724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Операция, тип документа, банк. счета, сумма + таб. часть РасшифровкаПлатежа</a:t>
            </a:r>
          </a:p>
        </p:txBody>
      </p:sp>
      <p:sp>
        <p:nvSpPr>
          <p:cNvPr id="217" name="Shape 17"/>
          <p:cNvSpPr/>
          <p:nvPr/>
        </p:nvSpPr>
        <p:spPr>
          <a:xfrm>
            <a:off x="457200" y="3749040"/>
            <a:ext cx="8229600" cy="77724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" name="Shape 18"/>
          <p:cNvSpPr/>
          <p:nvPr/>
        </p:nvSpPr>
        <p:spPr>
          <a:xfrm>
            <a:off x="457200" y="3749040"/>
            <a:ext cx="64008" cy="7772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19"/>
          <p:cNvSpPr txBox="1"/>
          <p:nvPr/>
        </p:nvSpPr>
        <p:spPr>
          <a:xfrm>
            <a:off x="731519" y="3917416"/>
            <a:ext cx="4572001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4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ПриходныйОрдерНаТовары</a:t>
            </a:r>
          </a:p>
        </p:txBody>
      </p:sp>
      <p:sp>
        <p:nvSpPr>
          <p:cNvPr id="220" name="Text 20"/>
          <p:cNvSpPr txBox="1"/>
          <p:nvPr/>
        </p:nvSpPr>
        <p:spPr>
          <a:xfrm>
            <a:off x="7040880" y="3929701"/>
            <a:ext cx="14630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b="1" sz="1300">
                <a:solidFill>
                  <a:srgbClr val="4A90D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 атрибутов</a:t>
            </a:r>
          </a:p>
        </p:txBody>
      </p:sp>
      <p:sp>
        <p:nvSpPr>
          <p:cNvPr id="221" name="Text 21"/>
          <p:cNvSpPr txBox="1"/>
          <p:nvPr/>
        </p:nvSpPr>
        <p:spPr>
          <a:xfrm>
            <a:off x="731519" y="4114799"/>
            <a:ext cx="77724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Статус, распоряжение, склад, отправитель + таб. часть Товары</a:t>
            </a:r>
          </a:p>
        </p:txBody>
      </p:sp>
      <p:sp>
        <p:nvSpPr>
          <p:cNvPr id="222" name="Shape 22"/>
          <p:cNvSpPr/>
          <p:nvPr/>
        </p:nvSpPr>
        <p:spPr>
          <a:xfrm>
            <a:off x="457200" y="4800600"/>
            <a:ext cx="8229600" cy="457200"/>
          </a:xfrm>
          <a:prstGeom prst="rect">
            <a:avLst/>
          </a:prstGeom>
          <a:solidFill>
            <a:srgbClr val="E8F0E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3" name="Text 23"/>
          <p:cNvSpPr txBox="1"/>
          <p:nvPr/>
        </p:nvSpPr>
        <p:spPr>
          <a:xfrm>
            <a:off x="731519" y="4936650"/>
            <a:ext cx="45720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2D7A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Отчёт: ВедомостьПоТоварамНаСкладах</a:t>
            </a:r>
          </a:p>
        </p:txBody>
      </p:sp>
      <p:sp>
        <p:nvSpPr>
          <p:cNvPr id="224" name="Text 24"/>
          <p:cNvSpPr txBox="1"/>
          <p:nvPr/>
        </p:nvSpPr>
        <p:spPr>
          <a:xfrm>
            <a:off x="6400799" y="4942792"/>
            <a:ext cx="210312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2D7A2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параметра СКД</a:t>
            </a:r>
          </a:p>
        </p:txBody>
      </p:sp>
      <p:sp>
        <p:nvSpPr>
          <p:cNvPr id="225" name="Номер слайда"/>
          <p:cNvSpPr txBox="1"/>
          <p:nvPr>
            <p:ph type="sldNum" sz="quarter" idx="4294967295"/>
          </p:nvPr>
        </p:nvSpPr>
        <p:spPr>
          <a:xfrm>
            <a:off x="6818900" y="4591765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1"/>
          <p:cNvSpPr txBox="1"/>
          <p:nvPr/>
        </p:nvSpPr>
        <p:spPr>
          <a:xfrm>
            <a:off x="548640" y="359410"/>
            <a:ext cx="804671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600">
                <a:solidFill>
                  <a:srgbClr val="1E276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Ключевые наблюдения</a:t>
            </a:r>
          </a:p>
        </p:txBody>
      </p:sp>
      <p:sp>
        <p:nvSpPr>
          <p:cNvPr id="229" name="Shape 2"/>
          <p:cNvSpPr/>
          <p:nvPr/>
        </p:nvSpPr>
        <p:spPr>
          <a:xfrm>
            <a:off x="457200" y="1005839"/>
            <a:ext cx="8229600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0" name="Shape 3"/>
          <p:cNvSpPr/>
          <p:nvPr/>
        </p:nvSpPr>
        <p:spPr>
          <a:xfrm>
            <a:off x="457200" y="1005839"/>
            <a:ext cx="64008" cy="86868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4"/>
          <p:cNvSpPr txBox="1"/>
          <p:nvPr/>
        </p:nvSpPr>
        <p:spPr>
          <a:xfrm>
            <a:off x="731519" y="1161932"/>
            <a:ext cx="77724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5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Ссылочная модель данных</a:t>
            </a:r>
          </a:p>
        </p:txBody>
      </p:sp>
      <p:sp>
        <p:nvSpPr>
          <p:cNvPr id="232" name="Text 5"/>
          <p:cNvSpPr txBox="1"/>
          <p:nvPr/>
        </p:nvSpPr>
        <p:spPr>
          <a:xfrm>
            <a:off x="731519" y="1371599"/>
            <a:ext cx="77724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60 из 105 атрибутов имеют ссылочный тип - нормализация и ссылочная целостность ERP</a:t>
            </a:r>
          </a:p>
        </p:txBody>
      </p:sp>
      <p:sp>
        <p:nvSpPr>
          <p:cNvPr id="233" name="Shape 6"/>
          <p:cNvSpPr/>
          <p:nvPr/>
        </p:nvSpPr>
        <p:spPr>
          <a:xfrm>
            <a:off x="457200" y="2011679"/>
            <a:ext cx="8229600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4" name="Shape 7"/>
          <p:cNvSpPr/>
          <p:nvPr/>
        </p:nvSpPr>
        <p:spPr>
          <a:xfrm>
            <a:off x="457200" y="2011679"/>
            <a:ext cx="64008" cy="86868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8"/>
          <p:cNvSpPr txBox="1"/>
          <p:nvPr/>
        </p:nvSpPr>
        <p:spPr>
          <a:xfrm>
            <a:off x="731519" y="2167772"/>
            <a:ext cx="77724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5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Определяемые типы</a:t>
            </a:r>
          </a:p>
        </p:txBody>
      </p:sp>
      <p:sp>
        <p:nvSpPr>
          <p:cNvPr id="236" name="Text 9"/>
          <p:cNvSpPr txBox="1"/>
          <p:nvPr/>
        </p:nvSpPr>
        <p:spPr>
          <a:xfrm>
            <a:off x="731519" y="2377439"/>
            <a:ext cx="77724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Цена, Сумма, ИНН - централизованное управление типами для всех объектов</a:t>
            </a:r>
          </a:p>
        </p:txBody>
      </p:sp>
      <p:sp>
        <p:nvSpPr>
          <p:cNvPr id="237" name="Shape 10"/>
          <p:cNvSpPr/>
          <p:nvPr/>
        </p:nvSpPr>
        <p:spPr>
          <a:xfrm>
            <a:off x="457200" y="3017520"/>
            <a:ext cx="8229600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8" name="Shape 11"/>
          <p:cNvSpPr/>
          <p:nvPr/>
        </p:nvSpPr>
        <p:spPr>
          <a:xfrm>
            <a:off x="457200" y="3017520"/>
            <a:ext cx="64008" cy="86868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2"/>
          <p:cNvSpPr txBox="1"/>
          <p:nvPr/>
        </p:nvSpPr>
        <p:spPr>
          <a:xfrm>
            <a:off x="731519" y="3173612"/>
            <a:ext cx="777240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5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Табличные части документов</a:t>
            </a:r>
          </a:p>
        </p:txBody>
      </p:sp>
      <p:sp>
        <p:nvSpPr>
          <p:cNvPr id="240" name="Text 13"/>
          <p:cNvSpPr txBox="1"/>
          <p:nvPr/>
        </p:nvSpPr>
        <p:spPr>
          <a:xfrm>
            <a:off x="731519" y="3383279"/>
            <a:ext cx="77724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Товары, РасшифровкаПлатежа - списки строк со своими реквизитами</a:t>
            </a:r>
          </a:p>
        </p:txBody>
      </p:sp>
      <p:sp>
        <p:nvSpPr>
          <p:cNvPr id="241" name="Shape 14"/>
          <p:cNvSpPr/>
          <p:nvPr/>
        </p:nvSpPr>
        <p:spPr>
          <a:xfrm>
            <a:off x="457200" y="4023359"/>
            <a:ext cx="8229600" cy="8686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50800" dist="254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42" name="Shape 15"/>
          <p:cNvSpPr/>
          <p:nvPr/>
        </p:nvSpPr>
        <p:spPr>
          <a:xfrm>
            <a:off x="457200" y="4023359"/>
            <a:ext cx="64008" cy="86868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16"/>
          <p:cNvSpPr txBox="1"/>
          <p:nvPr/>
        </p:nvSpPr>
        <p:spPr>
          <a:xfrm>
            <a:off x="731519" y="4179452"/>
            <a:ext cx="77724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5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Разделение Партнёр / Контрагент</a:t>
            </a:r>
          </a:p>
        </p:txBody>
      </p:sp>
      <p:sp>
        <p:nvSpPr>
          <p:cNvPr id="244" name="Text 17"/>
          <p:cNvSpPr txBox="1"/>
          <p:nvPr/>
        </p:nvSpPr>
        <p:spPr>
          <a:xfrm>
            <a:off x="731519" y="4389120"/>
            <a:ext cx="77724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Партнёр = бизнес-сущность, Контрагент = юр. лицо (гибкость для холдингов)</a:t>
            </a:r>
          </a:p>
        </p:txBody>
      </p:sp>
      <p:sp>
        <p:nvSpPr>
          <p:cNvPr id="245" name="Номер слайда"/>
          <p:cNvSpPr txBox="1"/>
          <p:nvPr>
            <p:ph type="sldNum" sz="quarter" idx="4294967295"/>
          </p:nvPr>
        </p:nvSpPr>
        <p:spPr>
          <a:xfrm>
            <a:off x="6845559" y="4682372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1"/>
          <p:cNvSpPr txBox="1"/>
          <p:nvPr/>
        </p:nvSpPr>
        <p:spPr>
          <a:xfrm>
            <a:off x="731520" y="655320"/>
            <a:ext cx="768096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Выводы</a:t>
            </a:r>
          </a:p>
        </p:txBody>
      </p:sp>
      <p:sp>
        <p:nvSpPr>
          <p:cNvPr id="249" name="Text 2"/>
          <p:cNvSpPr txBox="1"/>
          <p:nvPr/>
        </p:nvSpPr>
        <p:spPr>
          <a:xfrm>
            <a:off x="777240" y="1554480"/>
            <a:ext cx="7589520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4A90D9"/>
                </a:solidFill>
              </a:defRPr>
            </a:pPr>
            <a:r>
              <a:t>1. </a:t>
            </a:r>
            <a:r>
              <a:rPr b="0">
                <a:solidFill>
                  <a:srgbClr val="FFFFFF"/>
                </a:solidFill>
              </a:rPr>
              <a:t>Выполнена бизнес-задача: закупка у ООО «Парфюм» на 211 000 руб. - полный цикл от организации до приёмки товаров</a:t>
            </a:r>
          </a:p>
        </p:txBody>
      </p:sp>
      <p:sp>
        <p:nvSpPr>
          <p:cNvPr id="250" name="Text 3"/>
          <p:cNvSpPr txBox="1"/>
          <p:nvPr/>
        </p:nvSpPr>
        <p:spPr>
          <a:xfrm>
            <a:off x="777240" y="2423160"/>
            <a:ext cx="7589520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4A90D9"/>
                </a:solidFill>
              </a:defRPr>
            </a:pPr>
            <a:r>
              <a:t>2. </a:t>
            </a:r>
            <a:r>
              <a:rPr b="0">
                <a:solidFill>
                  <a:srgbClr val="FFFFFF"/>
                </a:solidFill>
              </a:rPr>
              <a:t>Проанализировано 105 атрибутов в 17 объектах метаданных (12 справочников, 4 документа, 1 отчёт)</a:t>
            </a:r>
          </a:p>
        </p:txBody>
      </p:sp>
      <p:sp>
        <p:nvSpPr>
          <p:cNvPr id="251" name="Text 4"/>
          <p:cNvSpPr txBox="1"/>
          <p:nvPr/>
        </p:nvSpPr>
        <p:spPr>
          <a:xfrm>
            <a:off x="777240" y="3291840"/>
            <a:ext cx="7589520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4A90D9"/>
                </a:solidFill>
              </a:defRPr>
            </a:pPr>
            <a:r>
              <a:t>3. </a:t>
            </a:r>
            <a:r>
              <a:rPr b="0">
                <a:solidFill>
                  <a:srgbClr val="FFFFFF"/>
                </a:solidFill>
              </a:rPr>
              <a:t>Для каждого атрибута определены: имя реквизита, тип метаданных, форма, элемент управления, базовый тип данных</a:t>
            </a:r>
          </a:p>
        </p:txBody>
      </p:sp>
      <p:sp>
        <p:nvSpPr>
          <p:cNvPr id="252" name="Text 5"/>
          <p:cNvSpPr txBox="1"/>
          <p:nvPr/>
        </p:nvSpPr>
        <p:spPr>
          <a:xfrm>
            <a:off x="777240" y="4160520"/>
            <a:ext cx="7589520" cy="554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4A90D9"/>
                </a:solidFill>
              </a:defRPr>
            </a:pPr>
            <a:r>
              <a:t>4. </a:t>
            </a:r>
            <a:r>
              <a:rPr b="0">
                <a:solidFill>
                  <a:srgbClr val="FFFFFF"/>
                </a:solidFill>
              </a:rPr>
              <a:t>Преобладают ссылочные типы (57%) - нормализованная модель данных ERP-системы</a:t>
            </a:r>
          </a:p>
        </p:txBody>
      </p:sp>
      <p:sp>
        <p:nvSpPr>
          <p:cNvPr id="253" name="Shape 6"/>
          <p:cNvSpPr/>
          <p:nvPr/>
        </p:nvSpPr>
        <p:spPr>
          <a:xfrm>
            <a:off x="0" y="4937759"/>
            <a:ext cx="9144000" cy="205741"/>
          </a:xfrm>
          <a:prstGeom prst="rect">
            <a:avLst/>
          </a:prstGeom>
          <a:solidFill>
            <a:srgbClr val="4A90D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Номер слайда"/>
          <p:cNvSpPr txBox="1"/>
          <p:nvPr>
            <p:ph type="sldNum" sz="quarter" idx="4294967295"/>
          </p:nvPr>
        </p:nvSpPr>
        <p:spPr>
          <a:xfrm>
            <a:off x="6721151" y="4478976"/>
            <a:ext cx="2133601" cy="279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