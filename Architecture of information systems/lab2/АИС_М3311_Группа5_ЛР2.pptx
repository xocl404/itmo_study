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png" ContentType="image/png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3300" y="304800"/>
            <a:ext cx="1485900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8600" y="0"/>
            <a:ext cx="89154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0225" y="323348"/>
            <a:ext cx="6575425" cy="464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0550" y="1270582"/>
            <a:ext cx="8128634" cy="2337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823472" y="4831911"/>
            <a:ext cx="247650" cy="210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9526" y="1897251"/>
            <a:ext cx="7721600" cy="3051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85470" indent="1637030">
              <a:lnSpc>
                <a:spcPct val="100000"/>
              </a:lnSpc>
              <a:spcBef>
                <a:spcPts val="100"/>
              </a:spcBef>
            </a:pPr>
            <a:r>
              <a:rPr dirty="0" u="heavy" sz="26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Лабораторная</a:t>
            </a:r>
            <a:r>
              <a:rPr dirty="0" u="heavy" sz="2600" spc="-1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6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работа</a:t>
            </a:r>
            <a:r>
              <a:rPr dirty="0" u="heavy" sz="2600" spc="-1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600" spc="-5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2</a:t>
            </a:r>
            <a:r>
              <a:rPr dirty="0" sz="2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 spc="-20" b="1">
                <a:solidFill>
                  <a:srgbClr val="FFFFFF"/>
                </a:solidFill>
                <a:latin typeface="Arial"/>
                <a:cs typeface="Arial"/>
              </a:rPr>
              <a:t>Формирование</a:t>
            </a:r>
            <a:r>
              <a:rPr dirty="0" sz="26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Arial"/>
                <a:cs typeface="Arial"/>
              </a:rPr>
              <a:t>системной</a:t>
            </a:r>
            <a:r>
              <a:rPr dirty="0" sz="26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Arial"/>
                <a:cs typeface="Arial"/>
              </a:rPr>
              <a:t>архитектуры</a:t>
            </a:r>
            <a:r>
              <a:rPr dirty="0" sz="26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 spc="-25" b="1">
                <a:solidFill>
                  <a:srgbClr val="FFFFFF"/>
                </a:solidFill>
                <a:latin typeface="Arial"/>
                <a:cs typeface="Arial"/>
              </a:rPr>
              <a:t>ИС </a:t>
            </a:r>
            <a:r>
              <a:rPr dirty="0" sz="2600" b="1">
                <a:solidFill>
                  <a:srgbClr val="FFFFFF"/>
                </a:solidFill>
                <a:latin typeface="Arial"/>
                <a:cs typeface="Arial"/>
              </a:rPr>
              <a:t>на</a:t>
            </a:r>
            <a:r>
              <a:rPr dirty="0" sz="2600" spc="-1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FFFF"/>
                </a:solidFill>
                <a:latin typeface="Arial"/>
                <a:cs typeface="Arial"/>
              </a:rPr>
              <a:t>основе</a:t>
            </a:r>
            <a:r>
              <a:rPr dirty="0" sz="26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Arial"/>
                <a:cs typeface="Arial"/>
              </a:rPr>
              <a:t>модели</a:t>
            </a:r>
            <a:r>
              <a:rPr dirty="0" sz="26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FFFF"/>
                </a:solidFill>
                <a:latin typeface="Arial"/>
                <a:cs typeface="Arial"/>
              </a:rPr>
              <a:t>объекта</a:t>
            </a:r>
            <a:r>
              <a:rPr dirty="0" sz="26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Arial"/>
                <a:cs typeface="Arial"/>
              </a:rPr>
              <a:t>автоматизации</a:t>
            </a:r>
            <a:endParaRPr sz="2600">
              <a:latin typeface="Arial"/>
              <a:cs typeface="Arial"/>
            </a:endParaRPr>
          </a:p>
          <a:p>
            <a:pPr marL="769620">
              <a:lnSpc>
                <a:spcPct val="100000"/>
              </a:lnSpc>
            </a:pPr>
            <a:r>
              <a:rPr dirty="0" sz="2600" b="1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dirty="0" sz="2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 spc="-20" b="1">
                <a:solidFill>
                  <a:srgbClr val="FFFFFF"/>
                </a:solidFill>
                <a:latin typeface="Arial"/>
                <a:cs typeface="Arial"/>
              </a:rPr>
              <a:t>нефункциональных</a:t>
            </a:r>
            <a:r>
              <a:rPr dirty="0" sz="26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Arial"/>
                <a:cs typeface="Arial"/>
              </a:rPr>
              <a:t>требований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70"/>
              </a:spcBef>
            </a:pPr>
            <a:endParaRPr sz="2600">
              <a:latin typeface="Arial"/>
              <a:cs typeface="Arial"/>
            </a:endParaRPr>
          </a:p>
          <a:p>
            <a:pPr algn="r" marL="5348605" marR="5080" indent="893444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Агаев</a:t>
            </a:r>
            <a:r>
              <a:rPr dirty="0" sz="180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Microsoft Sans Serif"/>
                <a:cs typeface="Microsoft Sans Serif"/>
              </a:rPr>
              <a:t>Эльдар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Ануфриев</a:t>
            </a:r>
            <a:r>
              <a:rPr dirty="0" sz="18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Microsoft Sans Serif"/>
                <a:cs typeface="Microsoft Sans Serif"/>
              </a:rPr>
              <a:t>Константин </a:t>
            </a:r>
            <a:r>
              <a:rPr dirty="0" sz="1800" spc="-10">
                <a:solidFill>
                  <a:srgbClr val="FFFFFF"/>
                </a:solidFill>
                <a:latin typeface="Microsoft Sans Serif"/>
                <a:cs typeface="Microsoft Sans Serif"/>
              </a:rPr>
              <a:t>Сидякин</a:t>
            </a:r>
            <a:r>
              <a:rPr dirty="0" sz="180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Microsoft Sans Serif"/>
                <a:cs typeface="Microsoft Sans Serif"/>
              </a:rPr>
              <a:t>Ярослав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Цель</a:t>
            </a:r>
            <a:r>
              <a:rPr dirty="0" spc="5"/>
              <a:t> </a:t>
            </a:r>
            <a:r>
              <a:rPr dirty="0"/>
              <a:t>и</a:t>
            </a:r>
            <a:r>
              <a:rPr dirty="0" spc="5"/>
              <a:t> </a:t>
            </a:r>
            <a:r>
              <a:rPr dirty="0"/>
              <a:t>задачи </a:t>
            </a:r>
            <a:r>
              <a:rPr dirty="0" spc="-10"/>
              <a:t>работы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0225" y="1229214"/>
            <a:ext cx="7309484" cy="17233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Arial"/>
                <a:cs typeface="Arial"/>
              </a:rPr>
              <a:t>Цель:</a:t>
            </a:r>
            <a:r>
              <a:rPr dirty="0" sz="1600" spc="20" b="1">
                <a:latin typeface="Arial"/>
                <a:cs typeface="Arial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приобрести</a:t>
            </a:r>
            <a:r>
              <a:rPr dirty="0" sz="1400" spc="3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навыки</a:t>
            </a:r>
            <a:r>
              <a:rPr dirty="0" sz="1400" spc="4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анализа</a:t>
            </a:r>
            <a:r>
              <a:rPr dirty="0" sz="1400" spc="3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нефункциональных</a:t>
            </a:r>
            <a:r>
              <a:rPr dirty="0" sz="1400" spc="3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требований</a:t>
            </a:r>
            <a:r>
              <a:rPr dirty="0" sz="1400" spc="3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и</a:t>
            </a:r>
            <a:r>
              <a:rPr dirty="0" sz="1400" spc="3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проектирования системной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архитектуры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ИС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на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базе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платформы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1С:Предприятие.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00" spc="-10" b="1">
                <a:latin typeface="Arial"/>
                <a:cs typeface="Arial"/>
              </a:rPr>
              <a:t>Задачи:</a:t>
            </a:r>
            <a:endParaRPr sz="1600">
              <a:latin typeface="Arial"/>
              <a:cs typeface="Arial"/>
            </a:endParaRPr>
          </a:p>
          <a:p>
            <a:pPr marL="518795" indent="-339725">
              <a:lnSpc>
                <a:spcPct val="100000"/>
              </a:lnSpc>
              <a:spcBef>
                <a:spcPts val="285"/>
              </a:spcBef>
              <a:buChar char="•"/>
              <a:tabLst>
                <a:tab pos="518795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Определить</a:t>
            </a:r>
            <a:r>
              <a:rPr dirty="0" sz="1400" spc="-4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архитектуру</a:t>
            </a:r>
            <a:r>
              <a:rPr dirty="0" sz="1400" spc="-3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решения</a:t>
            </a:r>
            <a:r>
              <a:rPr dirty="0" sz="1400" spc="-3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на</a:t>
            </a:r>
            <a:r>
              <a:rPr dirty="0" sz="1400" spc="-3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основе</a:t>
            </a:r>
            <a:r>
              <a:rPr dirty="0" sz="1400" spc="-3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требований</a:t>
            </a:r>
            <a:endParaRPr sz="1400">
              <a:latin typeface="Microsoft Sans Serif"/>
              <a:cs typeface="Microsoft Sans Serif"/>
            </a:endParaRPr>
          </a:p>
          <a:p>
            <a:pPr marL="518795" indent="-339725">
              <a:lnSpc>
                <a:spcPct val="100000"/>
              </a:lnSpc>
              <a:buChar char="•"/>
              <a:tabLst>
                <a:tab pos="518795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Рассчитать</a:t>
            </a:r>
            <a:r>
              <a:rPr dirty="0" sz="1400" spc="-60">
                <a:latin typeface="Microsoft Sans Serif"/>
                <a:cs typeface="Microsoft Sans Serif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характеристики</a:t>
            </a:r>
            <a:r>
              <a:rPr dirty="0" sz="1400" spc="-5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аппаратных</a:t>
            </a:r>
            <a:r>
              <a:rPr dirty="0" sz="1400" spc="-5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узлов</a:t>
            </a:r>
            <a:endParaRPr sz="1400">
              <a:latin typeface="Microsoft Sans Serif"/>
              <a:cs typeface="Microsoft Sans Serif"/>
            </a:endParaRPr>
          </a:p>
          <a:p>
            <a:pPr marL="518795" indent="-339725">
              <a:lnSpc>
                <a:spcPct val="100000"/>
              </a:lnSpc>
              <a:buChar char="•"/>
              <a:tabLst>
                <a:tab pos="518795" algn="l"/>
              </a:tabLst>
            </a:pPr>
            <a:r>
              <a:rPr dirty="0" sz="1400">
                <a:latin typeface="Microsoft Sans Serif"/>
                <a:cs typeface="Microsoft Sans Serif"/>
              </a:rPr>
              <a:t>Составить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смету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затрат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на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аппаратное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и</a:t>
            </a:r>
            <a:r>
              <a:rPr dirty="0" sz="1400" spc="-20">
                <a:latin typeface="Microsoft Sans Serif"/>
                <a:cs typeface="Microsoft Sans Serif"/>
              </a:rPr>
              <a:t> программное </a:t>
            </a:r>
            <a:r>
              <a:rPr dirty="0" sz="1400" spc="-10">
                <a:latin typeface="Microsoft Sans Serif"/>
                <a:cs typeface="Microsoft Sans Serif"/>
              </a:rPr>
              <a:t>обеспечение.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0225" y="1229214"/>
            <a:ext cx="5949315" cy="2037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 b="1">
                <a:latin typeface="Arial"/>
                <a:cs typeface="Arial"/>
              </a:rPr>
              <a:t>Автоматизируемые</a:t>
            </a:r>
            <a:r>
              <a:rPr dirty="0" sz="1600" spc="2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подразделения:</a:t>
            </a:r>
            <a:endParaRPr sz="1600">
              <a:latin typeface="Arial"/>
              <a:cs typeface="Arial"/>
            </a:endParaRPr>
          </a:p>
          <a:p>
            <a:pPr marL="412115" indent="-69850">
              <a:lnSpc>
                <a:spcPct val="100000"/>
              </a:lnSpc>
              <a:spcBef>
                <a:spcPts val="5"/>
              </a:spcBef>
              <a:buSzPct val="92857"/>
              <a:buChar char="•"/>
              <a:tabLst>
                <a:tab pos="412115" algn="l"/>
              </a:tabLst>
            </a:pPr>
            <a:r>
              <a:rPr dirty="0" sz="1400">
                <a:latin typeface="Microsoft Sans Serif"/>
                <a:cs typeface="Microsoft Sans Serif"/>
              </a:rPr>
              <a:t>Служба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продаж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 spc="360">
                <a:latin typeface="Microsoft Sans Serif"/>
                <a:cs typeface="Microsoft Sans Serif"/>
              </a:rPr>
              <a:t>–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10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человек</a:t>
            </a:r>
            <a:endParaRPr sz="1400">
              <a:latin typeface="Microsoft Sans Serif"/>
              <a:cs typeface="Microsoft Sans Serif"/>
            </a:endParaRPr>
          </a:p>
          <a:p>
            <a:pPr marL="412115" indent="-69850">
              <a:lnSpc>
                <a:spcPct val="100000"/>
              </a:lnSpc>
              <a:buSzPct val="92857"/>
              <a:buChar char="•"/>
              <a:tabLst>
                <a:tab pos="412115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Управление</a:t>
            </a:r>
            <a:r>
              <a:rPr dirty="0" sz="1400" spc="-3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планирования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 spc="360">
                <a:latin typeface="Microsoft Sans Serif"/>
                <a:cs typeface="Microsoft Sans Serif"/>
              </a:rPr>
              <a:t>–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7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человек</a:t>
            </a:r>
            <a:endParaRPr sz="1400">
              <a:latin typeface="Microsoft Sans Serif"/>
              <a:cs typeface="Microsoft Sans Serif"/>
            </a:endParaRPr>
          </a:p>
          <a:p>
            <a:pPr marL="412115" indent="-69850">
              <a:lnSpc>
                <a:spcPct val="100000"/>
              </a:lnSpc>
              <a:buSzPct val="92857"/>
              <a:buChar char="•"/>
              <a:tabLst>
                <a:tab pos="412115" algn="l"/>
              </a:tabLst>
            </a:pPr>
            <a:r>
              <a:rPr dirty="0" sz="1400">
                <a:latin typeface="Microsoft Sans Serif"/>
                <a:cs typeface="Microsoft Sans Serif"/>
              </a:rPr>
              <a:t>Служба</a:t>
            </a:r>
            <a:r>
              <a:rPr dirty="0" sz="1400" spc="-10">
                <a:latin typeface="Microsoft Sans Serif"/>
                <a:cs typeface="Microsoft Sans Serif"/>
              </a:rPr>
              <a:t> </a:t>
            </a:r>
            <a:r>
              <a:rPr dirty="0" sz="1400" spc="-25">
                <a:latin typeface="Microsoft Sans Serif"/>
                <a:cs typeface="Microsoft Sans Serif"/>
              </a:rPr>
              <a:t>технического</a:t>
            </a:r>
            <a:r>
              <a:rPr dirty="0" sz="1400" spc="-10">
                <a:latin typeface="Microsoft Sans Serif"/>
                <a:cs typeface="Microsoft Sans Serif"/>
              </a:rPr>
              <a:t> директора </a:t>
            </a:r>
            <a:r>
              <a:rPr dirty="0" sz="1400" spc="360">
                <a:latin typeface="Microsoft Sans Serif"/>
                <a:cs typeface="Microsoft Sans Serif"/>
              </a:rPr>
              <a:t>–</a:t>
            </a:r>
            <a:r>
              <a:rPr dirty="0" sz="1400" spc="-1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4</a:t>
            </a:r>
            <a:r>
              <a:rPr dirty="0" sz="1400" spc="-10">
                <a:latin typeface="Microsoft Sans Serif"/>
                <a:cs typeface="Microsoft Sans Serif"/>
              </a:rPr>
              <a:t> человека</a:t>
            </a:r>
            <a:endParaRPr sz="1400">
              <a:latin typeface="Microsoft Sans Serif"/>
              <a:cs typeface="Microsoft Sans Serif"/>
            </a:endParaRPr>
          </a:p>
          <a:p>
            <a:pPr marL="412115" indent="-69850">
              <a:lnSpc>
                <a:spcPct val="100000"/>
              </a:lnSpc>
              <a:buSzPct val="92857"/>
              <a:buChar char="•"/>
              <a:tabLst>
                <a:tab pos="412115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Управление </a:t>
            </a:r>
            <a:r>
              <a:rPr dirty="0" sz="1400">
                <a:latin typeface="Microsoft Sans Serif"/>
                <a:cs typeface="Microsoft Sans Serif"/>
              </a:rPr>
              <a:t>МТС</a:t>
            </a:r>
            <a:r>
              <a:rPr dirty="0" sz="1400" spc="-10">
                <a:latin typeface="Microsoft Sans Serif"/>
                <a:cs typeface="Microsoft Sans Serif"/>
              </a:rPr>
              <a:t> </a:t>
            </a:r>
            <a:r>
              <a:rPr dirty="0" sz="1400" spc="360">
                <a:latin typeface="Microsoft Sans Serif"/>
                <a:cs typeface="Microsoft Sans Serif"/>
              </a:rPr>
              <a:t>–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8</a:t>
            </a:r>
            <a:r>
              <a:rPr dirty="0" sz="1400" spc="-10">
                <a:latin typeface="Microsoft Sans Serif"/>
                <a:cs typeface="Microsoft Sans Serif"/>
              </a:rPr>
              <a:t> человек.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Всего:</a:t>
            </a:r>
            <a:r>
              <a:rPr dirty="0" sz="1600" spc="-90" b="1">
                <a:latin typeface="Arial"/>
                <a:cs typeface="Arial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29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АРМ.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ИС: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1С:Предприятие</a:t>
            </a:r>
            <a:r>
              <a:rPr dirty="0" sz="1400" spc="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8. </a:t>
            </a:r>
            <a:r>
              <a:rPr dirty="0" sz="1400" spc="-10">
                <a:latin typeface="Microsoft Sans Serif"/>
                <a:cs typeface="Microsoft Sans Serif"/>
              </a:rPr>
              <a:t>Управление</a:t>
            </a:r>
            <a:r>
              <a:rPr dirty="0" sz="1400" spc="5">
                <a:latin typeface="Microsoft Sans Serif"/>
                <a:cs typeface="Microsoft Sans Serif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производственным</a:t>
            </a:r>
            <a:r>
              <a:rPr dirty="0" sz="1400" spc="1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предприятием.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Исходные</a:t>
            </a:r>
            <a:r>
              <a:rPr dirty="0" spc="-150"/>
              <a:t> </a:t>
            </a:r>
            <a:r>
              <a:rPr dirty="0" spc="-10"/>
              <a:t>данные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Нефункциональные</a:t>
            </a:r>
            <a:r>
              <a:rPr dirty="0" spc="-105"/>
              <a:t> </a:t>
            </a:r>
            <a:r>
              <a:rPr dirty="0" spc="-10"/>
              <a:t>требования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09112" y="1225962"/>
          <a:ext cx="6338570" cy="2054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0089"/>
                <a:gridCol w="4262120"/>
              </a:tblGrid>
              <a:tr h="42608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600" spc="-10" b="1">
                          <a:latin typeface="Arial"/>
                          <a:cs typeface="Arial"/>
                        </a:rPr>
                        <a:t>Требование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8318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600" spc="-10" b="1">
                          <a:latin typeface="Arial"/>
                          <a:cs typeface="Arial"/>
                        </a:rPr>
                        <a:t>Значение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83185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41020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Производительность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144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Время</a:t>
                      </a:r>
                      <a:r>
                        <a:rPr dirty="0" sz="14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отклика</a:t>
                      </a:r>
                      <a:r>
                        <a:rPr dirty="0" sz="14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≤</a:t>
                      </a:r>
                      <a:r>
                        <a:rPr dirty="0" sz="14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15</a:t>
                      </a:r>
                      <a:r>
                        <a:rPr dirty="0" sz="14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секунд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144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Доступность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905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2085339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Постоянная</a:t>
                      </a:r>
                      <a:r>
                        <a:rPr dirty="0" sz="1400" spc="-8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доступность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Восстановление</a:t>
                      </a:r>
                      <a:r>
                        <a:rPr dirty="0" sz="14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≤</a:t>
                      </a:r>
                      <a:r>
                        <a:rPr dirty="0" sz="14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dirty="0" sz="14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часа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382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Безопасность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905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5417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Защита</a:t>
                      </a:r>
                      <a:r>
                        <a:rPr dirty="0" sz="14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от</a:t>
                      </a:r>
                      <a:r>
                        <a:rPr dirty="0" sz="14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внешнего</a:t>
                      </a:r>
                      <a:r>
                        <a:rPr dirty="0" sz="14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доступа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Защита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от</a:t>
                      </a:r>
                      <a:r>
                        <a:rPr dirty="0" sz="14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копирования</a:t>
                      </a:r>
                      <a:r>
                        <a:rPr dirty="0" sz="14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данных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382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Архитектурные</a:t>
            </a:r>
            <a:r>
              <a:rPr dirty="0" spc="-20"/>
              <a:t> </a:t>
            </a:r>
            <a:r>
              <a:rPr dirty="0" spc="-10"/>
              <a:t>решения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0225" y="1209707"/>
            <a:ext cx="3266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Arial"/>
                <a:cs typeface="Arial"/>
              </a:rPr>
              <a:t>1.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Тип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клиентского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приложения: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6612" y="1468178"/>
            <a:ext cx="33997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2895" indent="-290195">
              <a:lnSpc>
                <a:spcPct val="100000"/>
              </a:lnSpc>
              <a:spcBef>
                <a:spcPts val="100"/>
              </a:spcBef>
              <a:buChar char="•"/>
              <a:tabLst>
                <a:tab pos="302895" algn="l"/>
                <a:tab pos="1296035" algn="l"/>
                <a:tab pos="2633980" algn="l"/>
              </a:tabLst>
            </a:pPr>
            <a:r>
              <a:rPr dirty="0" sz="1400" spc="-25">
                <a:latin typeface="Microsoft Sans Serif"/>
                <a:cs typeface="Microsoft Sans Serif"/>
              </a:rPr>
              <a:t>29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10">
                <a:latin typeface="Microsoft Sans Serif"/>
                <a:cs typeface="Microsoft Sans Serif"/>
              </a:rPr>
              <a:t>тонких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10">
                <a:latin typeface="Microsoft Sans Serif"/>
                <a:cs typeface="Microsoft Sans Serif"/>
              </a:rPr>
              <a:t>клиентов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66105" y="1468178"/>
            <a:ext cx="29629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53945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(пользовательский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10">
                <a:latin typeface="Microsoft Sans Serif"/>
                <a:cs typeface="Microsoft Sans Serif"/>
              </a:rPr>
              <a:t>режим)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0225" y="1660202"/>
            <a:ext cx="6821170" cy="2882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>
              <a:lnSpc>
                <a:spcPts val="1595"/>
              </a:lnSpc>
              <a:spcBef>
                <a:spcPts val="100"/>
              </a:spcBef>
            </a:pPr>
            <a:r>
              <a:rPr dirty="0" sz="1400" spc="-30">
                <a:latin typeface="Microsoft Sans Serif"/>
                <a:cs typeface="Microsoft Sans Serif"/>
              </a:rPr>
              <a:t>Тонкий</a:t>
            </a:r>
            <a:r>
              <a:rPr dirty="0" sz="1400" spc="-6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клиент</a:t>
            </a:r>
            <a:r>
              <a:rPr dirty="0" sz="1400" spc="-6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легче,</a:t>
            </a:r>
            <a:r>
              <a:rPr dirty="0" sz="1400" spc="-6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поддерживает</a:t>
            </a:r>
            <a:r>
              <a:rPr dirty="0" sz="1400" spc="-5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работу</a:t>
            </a:r>
            <a:r>
              <a:rPr dirty="0" sz="1400" spc="-6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через</a:t>
            </a:r>
            <a:r>
              <a:rPr dirty="0" sz="1400" spc="-5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Интернет</a:t>
            </a:r>
            <a:endParaRPr sz="1400">
              <a:latin typeface="Microsoft Sans Serif"/>
              <a:cs typeface="Microsoft Sans Serif"/>
            </a:endParaRPr>
          </a:p>
          <a:p>
            <a:pPr marL="469265" indent="-290195">
              <a:lnSpc>
                <a:spcPts val="1595"/>
              </a:lnSpc>
              <a:buChar char="•"/>
              <a:tabLst>
                <a:tab pos="469265" algn="l"/>
              </a:tabLst>
            </a:pPr>
            <a:r>
              <a:rPr dirty="0" sz="1400">
                <a:latin typeface="Microsoft Sans Serif"/>
                <a:cs typeface="Microsoft Sans Serif"/>
              </a:rPr>
              <a:t>1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толстый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клиент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(администрирование)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-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необходим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для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конфигурирования.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400">
              <a:latin typeface="Microsoft Sans Serif"/>
              <a:cs typeface="Microsoft Sans Serif"/>
            </a:endParaRPr>
          </a:p>
          <a:p>
            <a:pPr marL="237490" indent="-224790">
              <a:lnSpc>
                <a:spcPct val="100000"/>
              </a:lnSpc>
              <a:buAutoNum type="arabicPeriod" startAt="2"/>
              <a:tabLst>
                <a:tab pos="237490" algn="l"/>
              </a:tabLst>
            </a:pPr>
            <a:r>
              <a:rPr dirty="0" sz="1600" b="1">
                <a:latin typeface="Arial"/>
                <a:cs typeface="Arial"/>
              </a:rPr>
              <a:t>Хранилище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данных: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>
                <a:latin typeface="Microsoft Sans Serif"/>
                <a:cs typeface="Microsoft Sans Serif"/>
              </a:rPr>
              <a:t>Microsoft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SQL</a:t>
            </a:r>
            <a:r>
              <a:rPr dirty="0" sz="1400" spc="-5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Server 2019 </a:t>
            </a:r>
            <a:r>
              <a:rPr dirty="0" sz="1400" spc="-10">
                <a:latin typeface="Microsoft Sans Serif"/>
                <a:cs typeface="Microsoft Sans Serif"/>
              </a:rPr>
              <a:t>Standard.</a:t>
            </a:r>
            <a:endParaRPr sz="1400">
              <a:latin typeface="Microsoft Sans Serif"/>
              <a:cs typeface="Microsoft Sans Serif"/>
            </a:endParaRPr>
          </a:p>
          <a:p>
            <a:pPr lvl="1" marL="469265" indent="-290195">
              <a:lnSpc>
                <a:spcPts val="1595"/>
              </a:lnSpc>
              <a:spcBef>
                <a:spcPts val="115"/>
              </a:spcBef>
              <a:buChar char="•"/>
              <a:tabLst>
                <a:tab pos="469265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Лучшая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интеграция </a:t>
            </a:r>
            <a:r>
              <a:rPr dirty="0" sz="1400">
                <a:latin typeface="Microsoft Sans Serif"/>
                <a:cs typeface="Microsoft Sans Serif"/>
              </a:rPr>
              <a:t>с</a:t>
            </a:r>
            <a:r>
              <a:rPr dirty="0" sz="1400" spc="-10">
                <a:latin typeface="Microsoft Sans Serif"/>
                <a:cs typeface="Microsoft Sans Serif"/>
              </a:rPr>
              <a:t> Windows</a:t>
            </a:r>
            <a:endParaRPr sz="1400">
              <a:latin typeface="Microsoft Sans Serif"/>
              <a:cs typeface="Microsoft Sans Serif"/>
            </a:endParaRPr>
          </a:p>
          <a:p>
            <a:pPr lvl="1" marL="469265" indent="-290195">
              <a:lnSpc>
                <a:spcPts val="1510"/>
              </a:lnSpc>
              <a:buChar char="•"/>
              <a:tabLst>
                <a:tab pos="469265" algn="l"/>
              </a:tabLst>
            </a:pPr>
            <a:r>
              <a:rPr dirty="0" sz="1400">
                <a:latin typeface="Microsoft Sans Serif"/>
                <a:cs typeface="Microsoft Sans Serif"/>
              </a:rPr>
              <a:t>Встроенные</a:t>
            </a:r>
            <a:r>
              <a:rPr dirty="0" sz="1400" spc="-3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средства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резервного</a:t>
            </a:r>
            <a:r>
              <a:rPr dirty="0" sz="1400" spc="-3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копирования</a:t>
            </a:r>
            <a:endParaRPr sz="1400">
              <a:latin typeface="Microsoft Sans Serif"/>
              <a:cs typeface="Microsoft Sans Serif"/>
            </a:endParaRPr>
          </a:p>
          <a:p>
            <a:pPr lvl="1" marL="469265" indent="-290195">
              <a:lnSpc>
                <a:spcPts val="1595"/>
              </a:lnSpc>
              <a:buChar char="•"/>
              <a:tabLst>
                <a:tab pos="469265" algn="l"/>
              </a:tabLst>
            </a:pPr>
            <a:r>
              <a:rPr dirty="0" sz="1400" spc="-20">
                <a:latin typeface="Microsoft Sans Serif"/>
                <a:cs typeface="Microsoft Sans Serif"/>
              </a:rPr>
              <a:t>Поддержка</a:t>
            </a:r>
            <a:r>
              <a:rPr dirty="0" sz="1400" spc="5">
                <a:latin typeface="Microsoft Sans Serif"/>
                <a:cs typeface="Microsoft Sans Serif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транзакционной</a:t>
            </a:r>
            <a:r>
              <a:rPr dirty="0" sz="1400" spc="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репликации.</a:t>
            </a:r>
            <a:endParaRPr sz="14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90"/>
              </a:spcBef>
              <a:buFont typeface="Microsoft Sans Serif"/>
              <a:buChar char="•"/>
            </a:pPr>
            <a:endParaRPr sz="1400">
              <a:latin typeface="Microsoft Sans Serif"/>
              <a:cs typeface="Microsoft Sans Serif"/>
            </a:endParaRPr>
          </a:p>
          <a:p>
            <a:pPr marL="237490" indent="-224790">
              <a:lnSpc>
                <a:spcPct val="100000"/>
              </a:lnSpc>
              <a:buAutoNum type="arabicPeriod" startAt="3"/>
              <a:tabLst>
                <a:tab pos="237490" algn="l"/>
              </a:tabLst>
            </a:pPr>
            <a:r>
              <a:rPr dirty="0" sz="1600" b="1">
                <a:latin typeface="Arial"/>
                <a:cs typeface="Arial"/>
              </a:rPr>
              <a:t>Архитектура</a:t>
            </a:r>
            <a:r>
              <a:rPr dirty="0" sz="1600" spc="-11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серверов: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 spc="-10">
                <a:latin typeface="Microsoft Sans Serif"/>
                <a:cs typeface="Microsoft Sans Serif"/>
              </a:rPr>
              <a:t>Кластер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из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2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серверов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1С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(активный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+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резервный)</a:t>
            </a:r>
            <a:endParaRPr sz="1400">
              <a:latin typeface="Microsoft Sans Serif"/>
              <a:cs typeface="Microsoft Sans Serif"/>
            </a:endParaRPr>
          </a:p>
          <a:p>
            <a:pPr lvl="1" marL="469265" indent="-290195">
              <a:lnSpc>
                <a:spcPts val="1595"/>
              </a:lnSpc>
              <a:spcBef>
                <a:spcPts val="110"/>
              </a:spcBef>
              <a:buChar char="•"/>
              <a:tabLst>
                <a:tab pos="469265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Обеспечение</a:t>
            </a:r>
            <a:r>
              <a:rPr dirty="0" sz="1400" spc="-5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отказоустойчивости</a:t>
            </a:r>
            <a:endParaRPr sz="1400">
              <a:latin typeface="Microsoft Sans Serif"/>
              <a:cs typeface="Microsoft Sans Serif"/>
            </a:endParaRPr>
          </a:p>
          <a:p>
            <a:pPr lvl="1" marL="469265" indent="-290195">
              <a:lnSpc>
                <a:spcPts val="1595"/>
              </a:lnSpc>
              <a:buChar char="•"/>
              <a:tabLst>
                <a:tab pos="469265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Соответствие </a:t>
            </a:r>
            <a:r>
              <a:rPr dirty="0" sz="1400">
                <a:latin typeface="Microsoft Sans Serif"/>
                <a:cs typeface="Microsoft Sans Serif"/>
              </a:rPr>
              <a:t>требованию</a:t>
            </a:r>
            <a:r>
              <a:rPr dirty="0" sz="1400" spc="-10">
                <a:latin typeface="Microsoft Sans Serif"/>
                <a:cs typeface="Microsoft Sans Serif"/>
              </a:rPr>
              <a:t> восстановления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≤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2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часа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Архитектурные</a:t>
            </a:r>
            <a:r>
              <a:rPr dirty="0" spc="-20"/>
              <a:t> </a:t>
            </a:r>
            <a:r>
              <a:rPr dirty="0" spc="-10"/>
              <a:t>решения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0225" y="1187413"/>
            <a:ext cx="5803265" cy="255714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430"/>
              </a:spcBef>
              <a:buAutoNum type="arabicPeriod" startAt="4"/>
              <a:tabLst>
                <a:tab pos="237490" algn="l"/>
              </a:tabLst>
            </a:pPr>
            <a:r>
              <a:rPr dirty="0" sz="1600" spc="-10" b="1">
                <a:latin typeface="Arial"/>
                <a:cs typeface="Arial"/>
              </a:rPr>
              <a:t>Виртуализация: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400">
                <a:latin typeface="Microsoft Sans Serif"/>
                <a:cs typeface="Microsoft Sans Serif"/>
              </a:rPr>
              <a:t>Microsoft </a:t>
            </a:r>
            <a:r>
              <a:rPr dirty="0" sz="1400" spc="-10">
                <a:latin typeface="Microsoft Sans Serif"/>
                <a:cs typeface="Microsoft Sans Serif"/>
              </a:rPr>
              <a:t>Hyper-</a:t>
            </a:r>
            <a:r>
              <a:rPr dirty="0" sz="1400" spc="-50">
                <a:latin typeface="Microsoft Sans Serif"/>
                <a:cs typeface="Microsoft Sans Serif"/>
              </a:rPr>
              <a:t>V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500" spc="-10" b="1">
                <a:solidFill>
                  <a:srgbClr val="4D4D4D"/>
                </a:solidFill>
                <a:latin typeface="Arial"/>
                <a:cs typeface="Arial"/>
              </a:rPr>
              <a:t>Физические</a:t>
            </a:r>
            <a:r>
              <a:rPr dirty="0" sz="1500" spc="-60" b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4D4D4D"/>
                </a:solidFill>
                <a:latin typeface="Arial"/>
                <a:cs typeface="Arial"/>
              </a:rPr>
              <a:t>серверы</a:t>
            </a:r>
            <a:r>
              <a:rPr dirty="0" sz="1500" spc="-60" b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4D4D4D"/>
                </a:solidFill>
                <a:latin typeface="Arial"/>
                <a:cs typeface="Arial"/>
              </a:rPr>
              <a:t>→</a:t>
            </a:r>
            <a:r>
              <a:rPr dirty="0" sz="1500" spc="-60" b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4D4D4D"/>
                </a:solidFill>
                <a:latin typeface="Arial"/>
                <a:cs typeface="Arial"/>
              </a:rPr>
              <a:t>Виртуальные</a:t>
            </a:r>
            <a:r>
              <a:rPr dirty="0" sz="1500" spc="-60" b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4D4D4D"/>
                </a:solidFill>
                <a:latin typeface="Arial"/>
                <a:cs typeface="Arial"/>
              </a:rPr>
              <a:t>машины:</a:t>
            </a:r>
            <a:endParaRPr sz="1500">
              <a:latin typeface="Arial"/>
              <a:cs typeface="Arial"/>
            </a:endParaRPr>
          </a:p>
          <a:p>
            <a:pPr lvl="1" marL="469265" indent="-290195">
              <a:lnSpc>
                <a:spcPct val="100000"/>
              </a:lnSpc>
              <a:spcBef>
                <a:spcPts val="285"/>
              </a:spcBef>
              <a:buChar char="•"/>
              <a:tabLst>
                <a:tab pos="469265" algn="l"/>
              </a:tabLst>
            </a:pPr>
            <a:r>
              <a:rPr dirty="0" sz="1400">
                <a:latin typeface="Microsoft Sans Serif"/>
                <a:cs typeface="Microsoft Sans Serif"/>
              </a:rPr>
              <a:t>Сервер</a:t>
            </a:r>
            <a:r>
              <a:rPr dirty="0" sz="1400" spc="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№1</a:t>
            </a:r>
            <a:r>
              <a:rPr dirty="0" sz="1400" spc="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→</a:t>
            </a:r>
            <a:r>
              <a:rPr dirty="0" sz="1400" spc="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VM</a:t>
            </a:r>
            <a:r>
              <a:rPr dirty="0" sz="1400" spc="3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1С-Сервер-</a:t>
            </a:r>
            <a:r>
              <a:rPr dirty="0" sz="1400">
                <a:latin typeface="Microsoft Sans Serif"/>
                <a:cs typeface="Microsoft Sans Serif"/>
              </a:rPr>
              <a:t>1</a:t>
            </a:r>
            <a:r>
              <a:rPr dirty="0" sz="1400" spc="3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(активный)</a:t>
            </a:r>
            <a:endParaRPr sz="1400">
              <a:latin typeface="Microsoft Sans Serif"/>
              <a:cs typeface="Microsoft Sans Serif"/>
            </a:endParaRPr>
          </a:p>
          <a:p>
            <a:pPr lvl="1" marL="469265" indent="-29019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400">
                <a:latin typeface="Microsoft Sans Serif"/>
                <a:cs typeface="Microsoft Sans Serif"/>
              </a:rPr>
              <a:t>Сервер</a:t>
            </a:r>
            <a:r>
              <a:rPr dirty="0" sz="1400" spc="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№1</a:t>
            </a:r>
            <a:r>
              <a:rPr dirty="0" sz="1400" spc="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→</a:t>
            </a:r>
            <a:r>
              <a:rPr dirty="0" sz="1400" spc="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VM</a:t>
            </a:r>
            <a:r>
              <a:rPr dirty="0" sz="1400" spc="3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1С-Сервер-</a:t>
            </a:r>
            <a:r>
              <a:rPr dirty="0" sz="1400">
                <a:latin typeface="Microsoft Sans Serif"/>
                <a:cs typeface="Microsoft Sans Serif"/>
              </a:rPr>
              <a:t>2</a:t>
            </a:r>
            <a:r>
              <a:rPr dirty="0" sz="1400" spc="3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(резервный)</a:t>
            </a:r>
            <a:endParaRPr sz="1400">
              <a:latin typeface="Microsoft Sans Serif"/>
              <a:cs typeface="Microsoft Sans Serif"/>
            </a:endParaRPr>
          </a:p>
          <a:p>
            <a:pPr lvl="1" marL="469265" indent="-29019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400">
                <a:latin typeface="Microsoft Sans Serif"/>
                <a:cs typeface="Microsoft Sans Serif"/>
              </a:rPr>
              <a:t>Сервер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№2 → VM SQL-Server,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VM Domain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Controller,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VM </a:t>
            </a:r>
            <a:r>
              <a:rPr dirty="0" sz="1400" spc="-10">
                <a:latin typeface="Microsoft Sans Serif"/>
                <a:cs typeface="Microsoft Sans Serif"/>
              </a:rPr>
              <a:t>Backup</a:t>
            </a:r>
            <a:endParaRPr sz="14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355"/>
              </a:spcBef>
              <a:buFont typeface="Microsoft Sans Serif"/>
              <a:buChar char="•"/>
            </a:pPr>
            <a:endParaRPr sz="1400">
              <a:latin typeface="Microsoft Sans Serif"/>
              <a:cs typeface="Microsoft Sans Serif"/>
            </a:endParaRPr>
          </a:p>
          <a:p>
            <a:pPr marL="12700" marR="3012440" indent="224790">
              <a:lnSpc>
                <a:spcPct val="115199"/>
              </a:lnSpc>
              <a:buAutoNum type="arabicPeriod" startAt="5"/>
              <a:tabLst>
                <a:tab pos="237490" algn="l"/>
              </a:tabLst>
            </a:pPr>
            <a:r>
              <a:rPr dirty="0" sz="1600" b="1">
                <a:latin typeface="Arial"/>
                <a:cs typeface="Arial"/>
              </a:rPr>
              <a:t>Операционные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системы: </a:t>
            </a:r>
            <a:r>
              <a:rPr dirty="0" sz="1500" b="1">
                <a:solidFill>
                  <a:srgbClr val="4D4D4D"/>
                </a:solidFill>
                <a:latin typeface="Arial"/>
                <a:cs typeface="Arial"/>
              </a:rPr>
              <a:t>Серверы:</a:t>
            </a:r>
            <a:r>
              <a:rPr dirty="0" sz="1500" spc="-70" b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Windows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Server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2019 </a:t>
            </a:r>
            <a:r>
              <a:rPr dirty="0" sz="1500" b="1">
                <a:solidFill>
                  <a:srgbClr val="4D4D4D"/>
                </a:solidFill>
                <a:latin typeface="Arial"/>
                <a:cs typeface="Arial"/>
              </a:rPr>
              <a:t>АРМ:</a:t>
            </a:r>
            <a:r>
              <a:rPr dirty="0" sz="1500" spc="-95" b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Windows</a:t>
            </a:r>
            <a:r>
              <a:rPr dirty="0" sz="1400" spc="-5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10/11</a:t>
            </a:r>
            <a:r>
              <a:rPr dirty="0" sz="1400" spc="-55">
                <a:latin typeface="Microsoft Sans Serif"/>
                <a:cs typeface="Microsoft Sans Serif"/>
              </a:rPr>
              <a:t> </a:t>
            </a:r>
            <a:r>
              <a:rPr dirty="0" sz="1400" spc="-25">
                <a:latin typeface="Microsoft Sans Serif"/>
                <a:cs typeface="Microsoft Sans Serif"/>
              </a:rPr>
              <a:t>Pro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Сетевая</a:t>
            </a:r>
            <a:r>
              <a:rPr dirty="0" spc="-110"/>
              <a:t> </a:t>
            </a:r>
            <a:r>
              <a:rPr dirty="0" spc="-10"/>
              <a:t>инфраструктура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0225" y="1187413"/>
            <a:ext cx="4340860" cy="219202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600" spc="-10" b="1">
                <a:latin typeface="Arial"/>
                <a:cs typeface="Arial"/>
              </a:rPr>
              <a:t>Оборудование:</a:t>
            </a:r>
            <a:endParaRPr sz="1600">
              <a:latin typeface="Arial"/>
              <a:cs typeface="Arial"/>
            </a:endParaRPr>
          </a:p>
          <a:p>
            <a:pPr marL="469265" indent="-290195">
              <a:lnSpc>
                <a:spcPct val="100000"/>
              </a:lnSpc>
              <a:spcBef>
                <a:spcPts val="285"/>
              </a:spcBef>
              <a:buChar char="•"/>
              <a:tabLst>
                <a:tab pos="469265" algn="l"/>
              </a:tabLst>
            </a:pPr>
            <a:r>
              <a:rPr dirty="0" sz="1400" spc="-25">
                <a:latin typeface="Microsoft Sans Serif"/>
                <a:cs typeface="Microsoft Sans Serif"/>
              </a:rPr>
              <a:t>Коммутатор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Cisco</a:t>
            </a:r>
            <a:r>
              <a:rPr dirty="0" sz="1400" spc="-10">
                <a:latin typeface="Microsoft Sans Serif"/>
                <a:cs typeface="Microsoft Sans Serif"/>
              </a:rPr>
              <a:t> CBS350-</a:t>
            </a:r>
            <a:r>
              <a:rPr dirty="0" sz="1400" spc="-30">
                <a:latin typeface="Microsoft Sans Serif"/>
                <a:cs typeface="Microsoft Sans Serif"/>
              </a:rPr>
              <a:t>48T-</a:t>
            </a:r>
            <a:r>
              <a:rPr dirty="0" sz="1400">
                <a:latin typeface="Microsoft Sans Serif"/>
                <a:cs typeface="Microsoft Sans Serif"/>
              </a:rPr>
              <a:t>4G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(2</a:t>
            </a:r>
            <a:r>
              <a:rPr dirty="0" sz="1400" spc="-10">
                <a:latin typeface="Microsoft Sans Serif"/>
                <a:cs typeface="Microsoft Sans Serif"/>
              </a:rPr>
              <a:t> </a:t>
            </a:r>
            <a:r>
              <a:rPr dirty="0" sz="1400" spc="-25">
                <a:latin typeface="Microsoft Sans Serif"/>
                <a:cs typeface="Microsoft Sans Serif"/>
              </a:rPr>
              <a:t>шт.,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стек)</a:t>
            </a:r>
            <a:endParaRPr sz="1400">
              <a:latin typeface="Microsoft Sans Serif"/>
              <a:cs typeface="Microsoft Sans Serif"/>
            </a:endParaRPr>
          </a:p>
          <a:p>
            <a:pPr marL="469265" indent="-29019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Межсетевой</a:t>
            </a:r>
            <a:r>
              <a:rPr dirty="0" sz="1400" spc="-4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экран</a:t>
            </a:r>
            <a:r>
              <a:rPr dirty="0" sz="1400" spc="-4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Cisco</a:t>
            </a:r>
            <a:r>
              <a:rPr dirty="0" sz="1400" spc="-4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Firepower</a:t>
            </a:r>
            <a:r>
              <a:rPr dirty="0" sz="1400" spc="-40">
                <a:latin typeface="Microsoft Sans Serif"/>
                <a:cs typeface="Microsoft Sans Serif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1010</a:t>
            </a:r>
            <a:endParaRPr sz="1400">
              <a:latin typeface="Microsoft Sans Serif"/>
              <a:cs typeface="Microsoft Sans Serif"/>
            </a:endParaRPr>
          </a:p>
          <a:p>
            <a:pPr marL="469265" indent="-29019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400" spc="-55">
                <a:latin typeface="Microsoft Sans Serif"/>
                <a:cs typeface="Microsoft Sans Serif"/>
              </a:rPr>
              <a:t>Точки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доступа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Wi-</a:t>
            </a:r>
            <a:r>
              <a:rPr dirty="0" sz="1400">
                <a:latin typeface="Microsoft Sans Serif"/>
                <a:cs typeface="Microsoft Sans Serif"/>
              </a:rPr>
              <a:t>Fi Cisco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Meraki MR28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(2 </a:t>
            </a:r>
            <a:r>
              <a:rPr dirty="0" sz="1400" spc="-20">
                <a:latin typeface="Microsoft Sans Serif"/>
                <a:cs typeface="Microsoft Sans Serif"/>
              </a:rPr>
              <a:t>шт.)</a:t>
            </a:r>
            <a:endParaRPr sz="1400">
              <a:latin typeface="Microsoft Sans Serif"/>
              <a:cs typeface="Microsoft Sans Serif"/>
            </a:endParaRPr>
          </a:p>
          <a:p>
            <a:pPr marL="469265" indent="-29019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400">
                <a:latin typeface="Microsoft Sans Serif"/>
                <a:cs typeface="Microsoft Sans Serif"/>
              </a:rPr>
              <a:t>ИБП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для</a:t>
            </a:r>
            <a:r>
              <a:rPr dirty="0" sz="1400" spc="-1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серверов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и</a:t>
            </a:r>
            <a:r>
              <a:rPr dirty="0" sz="1400" spc="-10">
                <a:latin typeface="Microsoft Sans Serif"/>
                <a:cs typeface="Microsoft Sans Serif"/>
              </a:rPr>
              <a:t> </a:t>
            </a:r>
            <a:r>
              <a:rPr dirty="0" sz="1400" spc="-25">
                <a:latin typeface="Microsoft Sans Serif"/>
                <a:cs typeface="Microsoft Sans Serif"/>
              </a:rPr>
              <a:t>АРМ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Font typeface="Microsoft Sans Serif"/>
              <a:buChar char="•"/>
            </a:pP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b="1">
                <a:latin typeface="Arial"/>
                <a:cs typeface="Arial"/>
              </a:rPr>
              <a:t>Каналы</a:t>
            </a:r>
            <a:r>
              <a:rPr dirty="0" sz="1600" spc="1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связи:</a:t>
            </a:r>
            <a:endParaRPr sz="1600">
              <a:latin typeface="Arial"/>
              <a:cs typeface="Arial"/>
            </a:endParaRPr>
          </a:p>
          <a:p>
            <a:pPr marL="469265" indent="-290195">
              <a:lnSpc>
                <a:spcPct val="100000"/>
              </a:lnSpc>
              <a:spcBef>
                <a:spcPts val="285"/>
              </a:spcBef>
              <a:buChar char="•"/>
              <a:tabLst>
                <a:tab pos="469265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Внутренняя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сеть: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Ethernet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Cat.6,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1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Гбит/с</a:t>
            </a:r>
            <a:endParaRPr sz="1400">
              <a:latin typeface="Microsoft Sans Serif"/>
              <a:cs typeface="Microsoft Sans Serif"/>
            </a:endParaRPr>
          </a:p>
          <a:p>
            <a:pPr marL="469265" indent="-29019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Доступ</a:t>
            </a:r>
            <a:r>
              <a:rPr dirty="0" sz="1400" spc="-3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в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Интернет:</a:t>
            </a:r>
            <a:r>
              <a:rPr dirty="0" sz="1400" spc="-4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Выделенный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канал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с</a:t>
            </a:r>
            <a:r>
              <a:rPr dirty="0" sz="1400" spc="-35">
                <a:latin typeface="Microsoft Sans Serif"/>
                <a:cs typeface="Microsoft Sans Serif"/>
              </a:rPr>
              <a:t> </a:t>
            </a:r>
            <a:r>
              <a:rPr dirty="0" sz="1400" spc="-25">
                <a:latin typeface="Microsoft Sans Serif"/>
                <a:cs typeface="Microsoft Sans Serif"/>
              </a:rPr>
              <a:t>VPN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Диаграмма</a:t>
            </a:r>
            <a:r>
              <a:rPr dirty="0" spc="70"/>
              <a:t> </a:t>
            </a:r>
            <a:r>
              <a:rPr dirty="0" spc="-10"/>
              <a:t>развёртывания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0699" y="1058209"/>
            <a:ext cx="3644013" cy="3833313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Диаграмма</a:t>
            </a:r>
            <a:r>
              <a:rPr dirty="0" spc="70"/>
              <a:t> </a:t>
            </a:r>
            <a:r>
              <a:rPr dirty="0" spc="-10"/>
              <a:t>компонентов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674" y="1360306"/>
            <a:ext cx="8649787" cy="2651759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Характеристики</a:t>
            </a:r>
            <a:r>
              <a:rPr dirty="0" spc="160"/>
              <a:t> </a:t>
            </a:r>
            <a:r>
              <a:rPr dirty="0" spc="-10"/>
              <a:t>оборудования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0225" y="1187413"/>
            <a:ext cx="4284980" cy="3395979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600" b="1">
                <a:latin typeface="Arial"/>
                <a:cs typeface="Arial"/>
              </a:rPr>
              <a:t>Сервер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1С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(2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20" b="1">
                <a:latin typeface="Arial"/>
                <a:cs typeface="Arial"/>
              </a:rPr>
              <a:t>шт.):</a:t>
            </a:r>
            <a:endParaRPr sz="1600">
              <a:latin typeface="Arial"/>
              <a:cs typeface="Arial"/>
            </a:endParaRPr>
          </a:p>
          <a:p>
            <a:pPr marL="469265" indent="-290195">
              <a:lnSpc>
                <a:spcPct val="100000"/>
              </a:lnSpc>
              <a:spcBef>
                <a:spcPts val="285"/>
              </a:spcBef>
              <a:buChar char="•"/>
              <a:tabLst>
                <a:tab pos="469265" algn="l"/>
              </a:tabLst>
            </a:pPr>
            <a:r>
              <a:rPr dirty="0" sz="1400">
                <a:latin typeface="Microsoft Sans Serif"/>
                <a:cs typeface="Microsoft Sans Serif"/>
              </a:rPr>
              <a:t>Процессор: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2×</a:t>
            </a:r>
            <a:r>
              <a:rPr dirty="0" sz="1400" spc="-1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Intel</a:t>
            </a:r>
            <a:r>
              <a:rPr dirty="0" sz="1400" spc="-1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Xeon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Silver</a:t>
            </a:r>
            <a:r>
              <a:rPr dirty="0" sz="1400" spc="-1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4310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(12</a:t>
            </a:r>
            <a:r>
              <a:rPr dirty="0" sz="1400" spc="-10">
                <a:latin typeface="Microsoft Sans Serif"/>
                <a:cs typeface="Microsoft Sans Serif"/>
              </a:rPr>
              <a:t> ядер)</a:t>
            </a:r>
            <a:endParaRPr sz="1400">
              <a:latin typeface="Microsoft Sans Serif"/>
              <a:cs typeface="Microsoft Sans Serif"/>
            </a:endParaRPr>
          </a:p>
          <a:p>
            <a:pPr marL="469265" indent="-29019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Оперативная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память: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64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ГБ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DDR4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25">
                <a:latin typeface="Microsoft Sans Serif"/>
                <a:cs typeface="Microsoft Sans Serif"/>
              </a:rPr>
              <a:t>ECC</a:t>
            </a:r>
            <a:endParaRPr sz="1400">
              <a:latin typeface="Microsoft Sans Serif"/>
              <a:cs typeface="Microsoft Sans Serif"/>
            </a:endParaRPr>
          </a:p>
          <a:p>
            <a:pPr marL="469265" indent="-29019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400" spc="-40">
                <a:latin typeface="Microsoft Sans Serif"/>
                <a:cs typeface="Microsoft Sans Serif"/>
              </a:rPr>
              <a:t>Диски: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2×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480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ГБ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SSD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(RAID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25">
                <a:latin typeface="Microsoft Sans Serif"/>
                <a:cs typeface="Microsoft Sans Serif"/>
              </a:rPr>
              <a:t>1)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Font typeface="Microsoft Sans Serif"/>
              <a:buChar char="•"/>
            </a:pP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b="1">
                <a:latin typeface="Arial"/>
                <a:cs typeface="Arial"/>
              </a:rPr>
              <a:t>Сервер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SQL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(1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20" b="1">
                <a:latin typeface="Arial"/>
                <a:cs typeface="Arial"/>
              </a:rPr>
              <a:t>шт.):</a:t>
            </a:r>
            <a:endParaRPr sz="1600">
              <a:latin typeface="Arial"/>
              <a:cs typeface="Arial"/>
            </a:endParaRPr>
          </a:p>
          <a:p>
            <a:pPr marL="469265" indent="-290195">
              <a:lnSpc>
                <a:spcPct val="100000"/>
              </a:lnSpc>
              <a:spcBef>
                <a:spcPts val="285"/>
              </a:spcBef>
              <a:buChar char="•"/>
              <a:tabLst>
                <a:tab pos="469265" algn="l"/>
              </a:tabLst>
            </a:pPr>
            <a:r>
              <a:rPr dirty="0" sz="1400">
                <a:latin typeface="Microsoft Sans Serif"/>
                <a:cs typeface="Microsoft Sans Serif"/>
              </a:rPr>
              <a:t>Процессор: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2×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Intel</a:t>
            </a:r>
            <a:r>
              <a:rPr dirty="0" sz="1400" spc="-1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Xeon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Gold</a:t>
            </a:r>
            <a:r>
              <a:rPr dirty="0" sz="1400" spc="-1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5317</a:t>
            </a:r>
            <a:r>
              <a:rPr dirty="0" sz="1400" spc="-1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(16</a:t>
            </a:r>
            <a:r>
              <a:rPr dirty="0" sz="1400" spc="-10">
                <a:latin typeface="Microsoft Sans Serif"/>
                <a:cs typeface="Microsoft Sans Serif"/>
              </a:rPr>
              <a:t> ядер)</a:t>
            </a:r>
            <a:endParaRPr sz="1400">
              <a:latin typeface="Microsoft Sans Serif"/>
              <a:cs typeface="Microsoft Sans Serif"/>
            </a:endParaRPr>
          </a:p>
          <a:p>
            <a:pPr marL="469265" indent="-29019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Оперативная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память: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128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ГБ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DDR4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25">
                <a:latin typeface="Microsoft Sans Serif"/>
                <a:cs typeface="Microsoft Sans Serif"/>
              </a:rPr>
              <a:t>ECC</a:t>
            </a:r>
            <a:endParaRPr sz="1400">
              <a:latin typeface="Microsoft Sans Serif"/>
              <a:cs typeface="Microsoft Sans Serif"/>
            </a:endParaRPr>
          </a:p>
          <a:p>
            <a:pPr marL="469265" indent="-29019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400" spc="-40">
                <a:latin typeface="Microsoft Sans Serif"/>
                <a:cs typeface="Microsoft Sans Serif"/>
              </a:rPr>
              <a:t>Диски: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4×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960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ГБ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SSD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(RAID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25">
                <a:latin typeface="Microsoft Sans Serif"/>
                <a:cs typeface="Microsoft Sans Serif"/>
              </a:rPr>
              <a:t>10)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Font typeface="Microsoft Sans Serif"/>
              <a:buChar char="•"/>
            </a:pP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АРМ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(29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20" b="1">
                <a:latin typeface="Arial"/>
                <a:cs typeface="Arial"/>
              </a:rPr>
              <a:t>шт.):</a:t>
            </a:r>
            <a:endParaRPr sz="1600">
              <a:latin typeface="Arial"/>
              <a:cs typeface="Arial"/>
            </a:endParaRPr>
          </a:p>
          <a:p>
            <a:pPr marL="469265" indent="-290195">
              <a:lnSpc>
                <a:spcPct val="100000"/>
              </a:lnSpc>
              <a:spcBef>
                <a:spcPts val="285"/>
              </a:spcBef>
              <a:buChar char="•"/>
              <a:tabLst>
                <a:tab pos="469265" algn="l"/>
              </a:tabLst>
            </a:pPr>
            <a:r>
              <a:rPr dirty="0" sz="1400">
                <a:latin typeface="Microsoft Sans Serif"/>
                <a:cs typeface="Microsoft Sans Serif"/>
              </a:rPr>
              <a:t>Процессор: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Intel</a:t>
            </a:r>
            <a:r>
              <a:rPr dirty="0" sz="1400" spc="-1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Core</a:t>
            </a:r>
            <a:r>
              <a:rPr dirty="0" sz="1400" spc="-10">
                <a:latin typeface="Microsoft Sans Serif"/>
                <a:cs typeface="Microsoft Sans Serif"/>
              </a:rPr>
              <a:t> i5-12400</a:t>
            </a:r>
            <a:endParaRPr sz="1400">
              <a:latin typeface="Microsoft Sans Serif"/>
              <a:cs typeface="Microsoft Sans Serif"/>
            </a:endParaRPr>
          </a:p>
          <a:p>
            <a:pPr marL="469265" indent="-29019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Оперативная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память: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16</a:t>
            </a:r>
            <a:r>
              <a:rPr dirty="0" sz="1400" spc="-1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ГБ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DDR4</a:t>
            </a:r>
            <a:endParaRPr sz="1400">
              <a:latin typeface="Microsoft Sans Serif"/>
              <a:cs typeface="Microsoft Sans Serif"/>
            </a:endParaRPr>
          </a:p>
          <a:p>
            <a:pPr marL="469265" indent="-29019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400" spc="-20">
                <a:latin typeface="Microsoft Sans Serif"/>
                <a:cs typeface="Microsoft Sans Serif"/>
              </a:rPr>
              <a:t>Накопитель: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256 ГБ</a:t>
            </a:r>
            <a:r>
              <a:rPr dirty="0" sz="1400" spc="5">
                <a:latin typeface="Microsoft Sans Serif"/>
                <a:cs typeface="Microsoft Sans Serif"/>
              </a:rPr>
              <a:t> </a:t>
            </a:r>
            <a:r>
              <a:rPr dirty="0" sz="1400" spc="-25">
                <a:latin typeface="Microsoft Sans Serif"/>
                <a:cs typeface="Microsoft Sans Serif"/>
              </a:rPr>
              <a:t>SSD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Смета</a:t>
            </a:r>
            <a:r>
              <a:rPr dirty="0" spc="-30"/>
              <a:t> </a:t>
            </a:r>
            <a:r>
              <a:rPr dirty="0"/>
              <a:t>затрат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 spc="-25"/>
              <a:t>1С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21423" y="1132376"/>
          <a:ext cx="7322820" cy="30111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036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Наименование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683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0" b="1">
                          <a:latin typeface="Arial"/>
                          <a:cs typeface="Arial"/>
                        </a:rPr>
                        <a:t>Кол-</a:t>
                      </a:r>
                      <a:r>
                        <a:rPr dirty="0" sz="1400" spc="-25" b="1">
                          <a:latin typeface="Arial"/>
                          <a:cs typeface="Arial"/>
                        </a:rPr>
                        <a:t>во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683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Цена</a:t>
                      </a:r>
                      <a:r>
                        <a:rPr dirty="0" sz="14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(руб.)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683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Сумма</a:t>
                      </a:r>
                      <a:r>
                        <a:rPr dirty="0" sz="14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(руб.)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683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1С:УПП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683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5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683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180</a:t>
                      </a:r>
                      <a:r>
                        <a:rPr dirty="0" sz="14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683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180</a:t>
                      </a:r>
                      <a:r>
                        <a:rPr dirty="0" sz="14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683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496570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Лицензия</a:t>
                      </a:r>
                      <a:r>
                        <a:rPr dirty="0" sz="14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сервер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 1С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  <a:p>
                      <a:pPr marL="285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(50</a:t>
                      </a:r>
                      <a:r>
                        <a:rPr dirty="0" sz="14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польз.)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143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400" spc="-5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3462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95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3462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190</a:t>
                      </a:r>
                      <a:r>
                        <a:rPr dirty="0" sz="14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3462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496570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Лицензия</a:t>
                      </a:r>
                      <a:r>
                        <a:rPr dirty="0" sz="14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тонкий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  <a:p>
                      <a:pPr marL="285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клиент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143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29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3462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18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500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3462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536</a:t>
                      </a:r>
                      <a:r>
                        <a:rPr dirty="0" sz="14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500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3462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496570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Лицензия</a:t>
                      </a:r>
                      <a:r>
                        <a:rPr dirty="0" sz="14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толстый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  <a:p>
                      <a:pPr marL="285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клиент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143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400" spc="-5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3462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18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500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3462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18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500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3462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ИТС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40">
                          <a:latin typeface="Microsoft Sans Serif"/>
                          <a:cs typeface="Microsoft Sans Serif"/>
                        </a:rPr>
                        <a:t>ПРОФ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(год)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683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5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683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98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683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98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683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Итого</a:t>
                      </a:r>
                      <a:r>
                        <a:rPr dirty="0" sz="1400" spc="-5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ПО</a:t>
                      </a:r>
                      <a:r>
                        <a:rPr dirty="0" sz="1400" spc="-5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1С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683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1 023</a:t>
                      </a:r>
                      <a:r>
                        <a:rPr dirty="0" sz="14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683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50"/>
              <a:t>Смета</a:t>
            </a:r>
            <a:r>
              <a:rPr dirty="0" sz="2550" spc="35"/>
              <a:t> </a:t>
            </a:r>
            <a:r>
              <a:rPr dirty="0" sz="2550"/>
              <a:t>затрат</a:t>
            </a:r>
            <a:r>
              <a:rPr dirty="0" sz="2550" spc="35"/>
              <a:t> </a:t>
            </a:r>
            <a:r>
              <a:rPr dirty="0" sz="2550"/>
              <a:t>-</a:t>
            </a:r>
            <a:r>
              <a:rPr dirty="0" sz="2550" spc="45"/>
              <a:t> </a:t>
            </a:r>
            <a:r>
              <a:rPr dirty="0" sz="2550"/>
              <a:t>Microsoft</a:t>
            </a:r>
            <a:r>
              <a:rPr dirty="0" sz="2550" spc="45"/>
              <a:t> </a:t>
            </a:r>
            <a:r>
              <a:rPr dirty="0" sz="2550"/>
              <a:t>и</a:t>
            </a:r>
            <a:r>
              <a:rPr dirty="0" sz="2550" spc="40"/>
              <a:t> </a:t>
            </a:r>
            <a:r>
              <a:rPr dirty="0" sz="2550" spc="-10"/>
              <a:t>безопасность</a:t>
            </a:r>
            <a:endParaRPr sz="255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21423" y="1189098"/>
          <a:ext cx="7322820" cy="34232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9125"/>
                <a:gridCol w="1004570"/>
                <a:gridCol w="1571625"/>
                <a:gridCol w="1503679"/>
              </a:tblGrid>
              <a:tr h="38036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 spc="-10" b="1">
                          <a:latin typeface="Arial"/>
                          <a:cs typeface="Arial"/>
                        </a:rPr>
                        <a:t>Наименование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445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 spc="-25" b="1">
                          <a:latin typeface="Arial"/>
                          <a:cs typeface="Arial"/>
                        </a:rPr>
                        <a:t>Кол-во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 b="1">
                          <a:latin typeface="Arial"/>
                          <a:cs typeface="Arial"/>
                        </a:rPr>
                        <a:t>Цена</a:t>
                      </a:r>
                      <a:r>
                        <a:rPr dirty="0" sz="13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 b="1">
                          <a:latin typeface="Arial"/>
                          <a:cs typeface="Arial"/>
                        </a:rPr>
                        <a:t>(руб.)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 spc="-10" b="1">
                          <a:latin typeface="Arial"/>
                          <a:cs typeface="Arial"/>
                        </a:rPr>
                        <a:t>Сумма</a:t>
                      </a:r>
                      <a:r>
                        <a:rPr dirty="0" sz="13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 b="1">
                          <a:latin typeface="Arial"/>
                          <a:cs typeface="Arial"/>
                        </a:rPr>
                        <a:t>(руб.)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Windows</a:t>
                      </a:r>
                      <a:r>
                        <a:rPr dirty="0" sz="13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Server</a:t>
                      </a:r>
                      <a:r>
                        <a:rPr dirty="0" sz="13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2019</a:t>
                      </a:r>
                      <a:r>
                        <a:rPr dirty="0" sz="13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 spc="-10">
                          <a:latin typeface="Microsoft Sans Serif"/>
                          <a:cs typeface="Microsoft Sans Serif"/>
                        </a:rPr>
                        <a:t>Standard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 spc="-50">
                          <a:latin typeface="Microsoft Sans Serif"/>
                          <a:cs typeface="Microsoft Sans Serif"/>
                        </a:rPr>
                        <a:t>2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120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 000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240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 000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SQL</a:t>
                      </a:r>
                      <a:r>
                        <a:rPr dirty="0" sz="1300" spc="-7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Server</a:t>
                      </a:r>
                      <a:r>
                        <a:rPr dirty="0" sz="13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2019</a:t>
                      </a:r>
                      <a:r>
                        <a:rPr dirty="0" sz="13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Standard</a:t>
                      </a:r>
                      <a:r>
                        <a:rPr dirty="0" sz="13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(24</a:t>
                      </a:r>
                      <a:r>
                        <a:rPr dirty="0" sz="13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 spc="-10">
                          <a:latin typeface="Microsoft Sans Serif"/>
                          <a:cs typeface="Microsoft Sans Serif"/>
                        </a:rPr>
                        <a:t>core)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 spc="-50">
                          <a:latin typeface="Microsoft Sans Serif"/>
                          <a:cs typeface="Microsoft Sans Serif"/>
                        </a:rPr>
                        <a:t>1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450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 000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450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 000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Windows</a:t>
                      </a:r>
                      <a:r>
                        <a:rPr dirty="0" sz="1300" spc="-5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 spc="-20">
                          <a:latin typeface="Microsoft Sans Serif"/>
                          <a:cs typeface="Microsoft Sans Serif"/>
                        </a:rPr>
                        <a:t>11</a:t>
                      </a:r>
                      <a:r>
                        <a:rPr dirty="0" sz="1300" spc="-5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Pro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29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15</a:t>
                      </a:r>
                      <a:r>
                        <a:rPr dirty="0" sz="13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435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 000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SQL</a:t>
                      </a:r>
                      <a:r>
                        <a:rPr dirty="0" sz="1300" spc="-5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CAL</a:t>
                      </a:r>
                      <a:r>
                        <a:rPr dirty="0" sz="1300" spc="-5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(29</a:t>
                      </a:r>
                      <a:r>
                        <a:rPr dirty="0" sz="13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 spc="-10">
                          <a:latin typeface="Microsoft Sans Serif"/>
                          <a:cs typeface="Microsoft Sans Serif"/>
                        </a:rPr>
                        <a:t>польз.)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29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12</a:t>
                      </a:r>
                      <a:r>
                        <a:rPr dirty="0" sz="13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348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 000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Kaspersky</a:t>
                      </a:r>
                      <a:r>
                        <a:rPr dirty="0" sz="1300" spc="-6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Endpoint</a:t>
                      </a:r>
                      <a:r>
                        <a:rPr dirty="0" sz="1300" spc="-6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 spc="-10">
                          <a:latin typeface="Microsoft Sans Serif"/>
                          <a:cs typeface="Microsoft Sans Serif"/>
                        </a:rPr>
                        <a:t>Security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32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3 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500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 spc="-20">
                          <a:latin typeface="Microsoft Sans Serif"/>
                          <a:cs typeface="Microsoft Sans Serif"/>
                        </a:rPr>
                        <a:t>112</a:t>
                      </a:r>
                      <a:r>
                        <a:rPr dirty="0" sz="1300" spc="-6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 spc="-10">
                          <a:latin typeface="Microsoft Sans Serif"/>
                          <a:cs typeface="Microsoft Sans Serif"/>
                        </a:rPr>
                        <a:t>DLP-система</a:t>
                      </a:r>
                      <a:r>
                        <a:rPr dirty="0" sz="13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Solar</a:t>
                      </a:r>
                      <a:r>
                        <a:rPr dirty="0" sz="13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 spc="-10">
                          <a:latin typeface="Microsoft Sans Serif"/>
                          <a:cs typeface="Microsoft Sans Serif"/>
                        </a:rPr>
                        <a:t>Dozor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 spc="-50">
                          <a:latin typeface="Microsoft Sans Serif"/>
                          <a:cs typeface="Microsoft Sans Serif"/>
                        </a:rPr>
                        <a:t>1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350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 000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350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 000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 spc="-10">
                          <a:latin typeface="Microsoft Sans Serif"/>
                          <a:cs typeface="Microsoft Sans Serif"/>
                        </a:rPr>
                        <a:t>Veeam</a:t>
                      </a:r>
                      <a:r>
                        <a:rPr dirty="0" sz="13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Backup</a:t>
                      </a:r>
                      <a:r>
                        <a:rPr dirty="0" sz="13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(3</a:t>
                      </a:r>
                      <a:r>
                        <a:rPr dirty="0" sz="13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ВМ)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 spc="-50">
                          <a:latin typeface="Microsoft Sans Serif"/>
                          <a:cs typeface="Microsoft Sans Serif"/>
                        </a:rPr>
                        <a:t>1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150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 000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150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 000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 spc="-10">
                          <a:latin typeface="Microsoft Sans Serif"/>
                          <a:cs typeface="Microsoft Sans Serif"/>
                        </a:rPr>
                        <a:t>Итого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dirty="0" sz="13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>
                          <a:latin typeface="Microsoft Sans Serif"/>
                          <a:cs typeface="Microsoft Sans Serif"/>
                        </a:rPr>
                        <a:t>135</a:t>
                      </a:r>
                      <a:r>
                        <a:rPr dirty="0" sz="13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445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Смета</a:t>
            </a:r>
            <a:r>
              <a:rPr dirty="0" spc="-30"/>
              <a:t> </a:t>
            </a:r>
            <a:r>
              <a:rPr dirty="0"/>
              <a:t>затрат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 spc="-10"/>
              <a:t>Оборудование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3380" y="1282530"/>
          <a:ext cx="7511415" cy="3205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5670"/>
                <a:gridCol w="988060"/>
                <a:gridCol w="1387475"/>
                <a:gridCol w="1595755"/>
              </a:tblGrid>
              <a:tr h="285115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Наименование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400" spc="-20" b="1">
                          <a:latin typeface="Arial"/>
                          <a:cs typeface="Arial"/>
                        </a:rPr>
                        <a:t>Кол-</a:t>
                      </a:r>
                      <a:r>
                        <a:rPr dirty="0" sz="1400" spc="-25" b="1">
                          <a:latin typeface="Arial"/>
                          <a:cs typeface="Arial"/>
                        </a:rPr>
                        <a:t>во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Цена</a:t>
                      </a:r>
                      <a:r>
                        <a:rPr dirty="0" sz="14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(руб.)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Сумма</a:t>
                      </a:r>
                      <a:r>
                        <a:rPr dirty="0" sz="14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(руб.)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50419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Сервер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Dell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PowerEdge</a:t>
                      </a:r>
                      <a:r>
                        <a:rPr dirty="0" sz="14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R750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(2</a:t>
                      </a:r>
                      <a:r>
                        <a:rPr dirty="0" sz="14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шт.)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28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400" spc="-5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2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350</a:t>
                      </a:r>
                      <a:r>
                        <a:rPr dirty="0" sz="14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2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700</a:t>
                      </a:r>
                      <a:r>
                        <a:rPr dirty="0" sz="14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2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50419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Сервер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Dell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PowerEdge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R750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(SQL)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28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400" spc="-5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2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550</a:t>
                      </a:r>
                      <a:r>
                        <a:rPr dirty="0" sz="14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2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550</a:t>
                      </a:r>
                      <a:r>
                        <a:rPr dirty="0" sz="14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2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-35">
                          <a:latin typeface="Microsoft Sans Serif"/>
                          <a:cs typeface="Microsoft Sans Serif"/>
                        </a:rPr>
                        <a:t>ПК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для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АРМ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(29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 шт.)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29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65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1 885</a:t>
                      </a:r>
                      <a:r>
                        <a:rPr dirty="0" sz="14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Сетевое</a:t>
                      </a:r>
                      <a:r>
                        <a:rPr dirty="0" sz="1400" spc="-9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оборудование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-50">
                          <a:latin typeface="Microsoft Sans Serif"/>
                          <a:cs typeface="Microsoft Sans Serif"/>
                        </a:rPr>
                        <a:t>-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-50">
                          <a:latin typeface="Microsoft Sans Serif"/>
                          <a:cs typeface="Microsoft Sans Serif"/>
                        </a:rPr>
                        <a:t>-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560</a:t>
                      </a:r>
                      <a:r>
                        <a:rPr dirty="0" sz="14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50419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ИБП,</a:t>
                      </a:r>
                      <a:r>
                        <a:rPr dirty="0" sz="1400" spc="-5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принтеры,</a:t>
                      </a:r>
                      <a:r>
                        <a:rPr dirty="0" sz="1400" spc="-5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сканеры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28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400" spc="-50">
                          <a:latin typeface="Microsoft Sans Serif"/>
                          <a:cs typeface="Microsoft Sans Serif"/>
                        </a:rPr>
                        <a:t>-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2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400" spc="-50">
                          <a:latin typeface="Microsoft Sans Serif"/>
                          <a:cs typeface="Microsoft Sans Serif"/>
                        </a:rPr>
                        <a:t>-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2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672</a:t>
                      </a:r>
                      <a:r>
                        <a:rPr dirty="0" sz="14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2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Доп.</a:t>
                      </a:r>
                      <a:r>
                        <a:rPr dirty="0" sz="1400" spc="-7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оборудование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-50">
                          <a:latin typeface="Microsoft Sans Serif"/>
                          <a:cs typeface="Microsoft Sans Serif"/>
                        </a:rPr>
                        <a:t>-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-50">
                          <a:latin typeface="Microsoft Sans Serif"/>
                          <a:cs typeface="Microsoft Sans Serif"/>
                        </a:rPr>
                        <a:t>-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210</a:t>
                      </a:r>
                      <a:r>
                        <a:rPr dirty="0" sz="14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Итого</a:t>
                      </a:r>
                      <a:r>
                        <a:rPr dirty="0" sz="1400" spc="-9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оборудование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4 577</a:t>
                      </a:r>
                      <a:r>
                        <a:rPr dirty="0" sz="14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Итоговая</a:t>
            </a:r>
            <a:r>
              <a:rPr dirty="0" spc="-80"/>
              <a:t> </a:t>
            </a:r>
            <a:r>
              <a:rPr dirty="0" spc="-20"/>
              <a:t>смета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21423" y="1180462"/>
          <a:ext cx="4198620" cy="1844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/>
                <a:gridCol w="2057400"/>
              </a:tblGrid>
              <a:tr h="28511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Наименование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06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Сумма</a:t>
                      </a:r>
                      <a:r>
                        <a:rPr dirty="0" sz="14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(руб.)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06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Оборудование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06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4 577</a:t>
                      </a:r>
                      <a:r>
                        <a:rPr dirty="0" sz="14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06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ПО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1С:Предприятие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1 023</a:t>
                      </a:r>
                      <a:r>
                        <a:rPr dirty="0" sz="14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ПО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06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1 473</a:t>
                      </a:r>
                      <a:r>
                        <a:rPr dirty="0" sz="14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06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ПО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безопасности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612</a:t>
                      </a:r>
                      <a:r>
                        <a:rPr dirty="0" sz="14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ИТОГО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06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7 685</a:t>
                      </a:r>
                      <a:r>
                        <a:rPr dirty="0" sz="14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5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06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Соответствие</a:t>
            </a:r>
            <a:r>
              <a:rPr dirty="0" spc="-170"/>
              <a:t> </a:t>
            </a:r>
            <a:r>
              <a:rPr dirty="0" spc="-10"/>
              <a:t>требованиям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08650" y="1270582"/>
          <a:ext cx="8128634" cy="2337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7895"/>
                <a:gridCol w="2515235"/>
                <a:gridCol w="3327400"/>
              </a:tblGrid>
              <a:tr h="2508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Требование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6510">
                    <a:lnR w="9525">
                      <a:solidFill>
                        <a:srgbClr val="4D4D4D"/>
                      </a:solidFill>
                      <a:prstDash val="solid"/>
                    </a:lnR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Решение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651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Результат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6510">
                    <a:lnL w="9525">
                      <a:solidFill>
                        <a:srgbClr val="4D4D4D"/>
                      </a:solidFill>
                      <a:prstDash val="solid"/>
                    </a:lnL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Время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отклика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≤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15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сек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4930"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Кластер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1С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SQL</a:t>
                      </a:r>
                      <a:r>
                        <a:rPr dirty="0" sz="1200" spc="-5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Server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4930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Обеспечено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4930">
                    <a:lnL w="9525">
                      <a:solidFill>
                        <a:srgbClr val="4D4D4D"/>
                      </a:solidFill>
                      <a:prstDash val="solid"/>
                    </a:lnL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Постоянная</a:t>
                      </a:r>
                      <a:r>
                        <a:rPr dirty="0" sz="12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доступность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5404"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сервера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в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кластере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5404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При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сбое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одного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работа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продолжается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5404">
                    <a:lnL w="9525">
                      <a:solidFill>
                        <a:srgbClr val="4D4D4D"/>
                      </a:solidFill>
                      <a:prstDash val="solid"/>
                    </a:lnL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5041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Восстановление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≤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часа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41605"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Резервирование</a:t>
                      </a:r>
                      <a:r>
                        <a:rPr dirty="0" sz="12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dirty="0" sz="12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Veeam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Backup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4160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Автоматическое</a:t>
                      </a:r>
                      <a:r>
                        <a:rPr dirty="0" sz="1200" spc="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переключение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41605">
                    <a:lnL w="9525">
                      <a:solidFill>
                        <a:srgbClr val="4D4D4D"/>
                      </a:solidFill>
                      <a:prstDash val="solid"/>
                    </a:lnL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5041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Защита</a:t>
                      </a:r>
                      <a:r>
                        <a:rPr dirty="0" sz="12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от</a:t>
                      </a:r>
                      <a:r>
                        <a:rPr dirty="0" sz="12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внешнего</a:t>
                      </a:r>
                      <a:r>
                        <a:rPr dirty="0" sz="12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доступа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41605"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Firewall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HTTPS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41605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Шифрование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SSL/TLS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41605">
                    <a:lnL w="9525">
                      <a:solidFill>
                        <a:srgbClr val="4D4D4D"/>
                      </a:solidFill>
                      <a:prstDash val="solid"/>
                    </a:lnL>
                    <a:lnT w="9525">
                      <a:solidFill>
                        <a:srgbClr val="4D4D4D"/>
                      </a:solidFill>
                      <a:prstDash val="solid"/>
                    </a:lnT>
                    <a:lnB w="9525">
                      <a:solidFill>
                        <a:srgbClr val="4D4D4D"/>
                      </a:solidFill>
                      <a:prstDash val="soli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Защита</a:t>
                      </a:r>
                      <a:r>
                        <a:rPr dirty="0" sz="1200" spc="-5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от</a:t>
                      </a:r>
                      <a:r>
                        <a:rPr dirty="0" sz="1200" spc="-5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копирования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5404"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DLP-система</a:t>
                      </a:r>
                      <a:r>
                        <a:rPr dirty="0" sz="12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права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1С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5404">
                    <a:lnL w="9525">
                      <a:solidFill>
                        <a:srgbClr val="4D4D4D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solid"/>
                    </a:lnR>
                    <a:lnT w="9525">
                      <a:solidFill>
                        <a:srgbClr val="4D4D4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Контроль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утечек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5404">
                    <a:lnL w="9525">
                      <a:solidFill>
                        <a:srgbClr val="4D4D4D"/>
                      </a:solidFill>
                      <a:prstDash val="solid"/>
                    </a:lnL>
                    <a:lnT w="9525">
                      <a:solidFill>
                        <a:srgbClr val="4D4D4D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5933" y="1607912"/>
            <a:ext cx="189755" cy="17859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8400" y="1969862"/>
            <a:ext cx="189755" cy="17859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8400" y="2398487"/>
            <a:ext cx="189755" cy="17859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8400" y="2903312"/>
            <a:ext cx="189755" cy="17859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8400" y="3331937"/>
            <a:ext cx="189755" cy="178593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50"/>
              <a:t>Преимущества</a:t>
            </a:r>
            <a:r>
              <a:rPr dirty="0" sz="2550" spc="65"/>
              <a:t> </a:t>
            </a:r>
            <a:r>
              <a:rPr dirty="0" sz="2550"/>
              <a:t>выбранной</a:t>
            </a:r>
            <a:r>
              <a:rPr dirty="0" sz="2550" spc="70"/>
              <a:t> </a:t>
            </a:r>
            <a:r>
              <a:rPr dirty="0" sz="2550" spc="-10"/>
              <a:t>архитектуры</a:t>
            </a:r>
            <a:endParaRPr sz="2550"/>
          </a:p>
        </p:txBody>
      </p:sp>
      <p:grpSp>
        <p:nvGrpSpPr>
          <p:cNvPr id="3" name="object 3" descr=""/>
          <p:cNvGrpSpPr/>
          <p:nvPr/>
        </p:nvGrpSpPr>
        <p:grpSpPr>
          <a:xfrm>
            <a:off x="542925" y="1255871"/>
            <a:ext cx="221615" cy="1452880"/>
            <a:chOff x="542925" y="1255871"/>
            <a:chExt cx="221615" cy="14528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925" y="1255871"/>
              <a:ext cx="221258" cy="20824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925" y="1504791"/>
              <a:ext cx="221258" cy="20824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925" y="1753711"/>
              <a:ext cx="221258" cy="20824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925" y="2002631"/>
              <a:ext cx="221258" cy="20824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925" y="2251551"/>
              <a:ext cx="221258" cy="208243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925" y="2500471"/>
              <a:ext cx="221258" cy="208243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800733" y="1194671"/>
            <a:ext cx="5551170" cy="151892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400" spc="-20">
                <a:latin typeface="Microsoft Sans Serif"/>
                <a:cs typeface="Microsoft Sans Serif"/>
              </a:rPr>
              <a:t>Отказоустойчивость</a:t>
            </a:r>
            <a:r>
              <a:rPr dirty="0" sz="1400" spc="-3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-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кластер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серверов</a:t>
            </a:r>
            <a:r>
              <a:rPr dirty="0" sz="1400" spc="-25">
                <a:latin typeface="Microsoft Sans Serif"/>
                <a:cs typeface="Microsoft Sans Serif"/>
              </a:rPr>
              <a:t> 1С</a:t>
            </a:r>
            <a:endParaRPr sz="1400">
              <a:latin typeface="Microsoft Sans Serif"/>
              <a:cs typeface="Microsoft Sans Serif"/>
            </a:endParaRPr>
          </a:p>
          <a:p>
            <a:pPr marL="12700" marR="5080">
              <a:lnSpc>
                <a:spcPct val="116700"/>
              </a:lnSpc>
            </a:pPr>
            <a:r>
              <a:rPr dirty="0" sz="1400" spc="-10">
                <a:latin typeface="Microsoft Sans Serif"/>
                <a:cs typeface="Microsoft Sans Serif"/>
              </a:rPr>
              <a:t>Масштабируемость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-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25">
                <a:latin typeface="Microsoft Sans Serif"/>
                <a:cs typeface="Microsoft Sans Serif"/>
              </a:rPr>
              <a:t>возможность </a:t>
            </a:r>
            <a:r>
              <a:rPr dirty="0" sz="1400">
                <a:latin typeface="Microsoft Sans Serif"/>
                <a:cs typeface="Microsoft Sans Serif"/>
              </a:rPr>
              <a:t>добавления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рабочих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процессов </a:t>
            </a:r>
            <a:r>
              <a:rPr dirty="0" sz="1400" spc="-20">
                <a:latin typeface="Microsoft Sans Serif"/>
                <a:cs typeface="Microsoft Sans Serif"/>
              </a:rPr>
              <a:t>Безопасность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- </a:t>
            </a:r>
            <a:r>
              <a:rPr dirty="0" sz="1400" spc="-20">
                <a:latin typeface="Microsoft Sans Serif"/>
                <a:cs typeface="Microsoft Sans Serif"/>
              </a:rPr>
              <a:t>многоуровневая</a:t>
            </a:r>
            <a:r>
              <a:rPr dirty="0" sz="1400">
                <a:latin typeface="Microsoft Sans Serif"/>
                <a:cs typeface="Microsoft Sans Serif"/>
              </a:rPr>
              <a:t> защита</a:t>
            </a:r>
            <a:r>
              <a:rPr dirty="0" sz="1400" spc="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данных Производительность</a:t>
            </a:r>
            <a:r>
              <a:rPr dirty="0" sz="1400" spc="-4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-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распределение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нагрузки</a:t>
            </a:r>
            <a:endParaRPr sz="1400">
              <a:latin typeface="Microsoft Sans Serif"/>
              <a:cs typeface="Microsoft Sans Serif"/>
            </a:endParaRPr>
          </a:p>
          <a:p>
            <a:pPr marL="12700" marR="1995805">
              <a:lnSpc>
                <a:spcPct val="116700"/>
              </a:lnSpc>
            </a:pPr>
            <a:r>
              <a:rPr dirty="0" sz="1400" spc="-10">
                <a:latin typeface="Microsoft Sans Serif"/>
                <a:cs typeface="Microsoft Sans Serif"/>
              </a:rPr>
              <a:t>Эффективность</a:t>
            </a:r>
            <a:r>
              <a:rPr dirty="0" sz="1400">
                <a:latin typeface="Microsoft Sans Serif"/>
                <a:cs typeface="Microsoft Sans Serif"/>
              </a:rPr>
              <a:t> -</a:t>
            </a:r>
            <a:r>
              <a:rPr dirty="0" sz="1400" spc="1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виртуализация</a:t>
            </a:r>
            <a:r>
              <a:rPr dirty="0" sz="1400" spc="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ресурсов Надежность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-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резервное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копирование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Выводы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10625" y="1230231"/>
            <a:ext cx="7230109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9255" marR="36195" indent="-37719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89255" algn="l"/>
                <a:tab pos="1663064" algn="l"/>
                <a:tab pos="2886075" algn="l"/>
                <a:tab pos="3355975" algn="l"/>
                <a:tab pos="3872229" algn="l"/>
                <a:tab pos="4283075" algn="l"/>
                <a:tab pos="5723890" algn="l"/>
                <a:tab pos="6026150" algn="l"/>
                <a:tab pos="6819900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Разработана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10">
                <a:latin typeface="Microsoft Sans Serif"/>
                <a:cs typeface="Microsoft Sans Serif"/>
              </a:rPr>
              <a:t>архитектура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25">
                <a:latin typeface="Microsoft Sans Serif"/>
                <a:cs typeface="Microsoft Sans Serif"/>
              </a:rPr>
              <a:t>ИС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25">
                <a:latin typeface="Microsoft Sans Serif"/>
                <a:cs typeface="Microsoft Sans Serif"/>
              </a:rPr>
              <a:t>для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25">
                <a:latin typeface="Microsoft Sans Serif"/>
                <a:cs typeface="Microsoft Sans Serif"/>
              </a:rPr>
              <a:t>29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10">
                <a:latin typeface="Microsoft Sans Serif"/>
                <a:cs typeface="Microsoft Sans Serif"/>
              </a:rPr>
              <a:t>пользователей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50">
                <a:latin typeface="Microsoft Sans Serif"/>
                <a:cs typeface="Microsoft Sans Serif"/>
              </a:rPr>
              <a:t>с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10">
                <a:latin typeface="Microsoft Sans Serif"/>
                <a:cs typeface="Microsoft Sans Serif"/>
              </a:rPr>
              <a:t>учётом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25">
                <a:latin typeface="Microsoft Sans Serif"/>
                <a:cs typeface="Microsoft Sans Serif"/>
              </a:rPr>
              <a:t>всех </a:t>
            </a:r>
            <a:r>
              <a:rPr dirty="0" sz="1400" spc="-10">
                <a:latin typeface="Microsoft Sans Serif"/>
                <a:cs typeface="Microsoft Sans Serif"/>
              </a:rPr>
              <a:t>нефункциональных</a:t>
            </a:r>
            <a:r>
              <a:rPr dirty="0" sz="1400" spc="4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требований</a:t>
            </a:r>
            <a:endParaRPr sz="1400">
              <a:latin typeface="Microsoft Sans Serif"/>
              <a:cs typeface="Microsoft Sans Serif"/>
            </a:endParaRPr>
          </a:p>
          <a:p>
            <a:pPr marL="389255" marR="5080" indent="-377190">
              <a:lnSpc>
                <a:spcPct val="100000"/>
              </a:lnSpc>
              <a:buAutoNum type="arabicPeriod"/>
              <a:tabLst>
                <a:tab pos="389255" algn="l"/>
                <a:tab pos="1264285" algn="l"/>
                <a:tab pos="2886710" algn="l"/>
                <a:tab pos="4028440" algn="l"/>
                <a:tab pos="4250055" algn="l"/>
                <a:tab pos="5251450" algn="l"/>
                <a:tab pos="6153785" algn="l"/>
                <a:tab pos="6513195" algn="l"/>
                <a:tab pos="6744334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Выбрана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25">
                <a:latin typeface="Microsoft Sans Serif"/>
                <a:cs typeface="Microsoft Sans Serif"/>
              </a:rPr>
              <a:t>клиент-</a:t>
            </a:r>
            <a:r>
              <a:rPr dirty="0" sz="1400" spc="-10">
                <a:latin typeface="Microsoft Sans Serif"/>
                <a:cs typeface="Microsoft Sans Serif"/>
              </a:rPr>
              <a:t>серверная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10">
                <a:latin typeface="Microsoft Sans Serif"/>
                <a:cs typeface="Microsoft Sans Serif"/>
              </a:rPr>
              <a:t>архитектура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50">
                <a:latin typeface="Microsoft Sans Serif"/>
                <a:cs typeface="Microsoft Sans Serif"/>
              </a:rPr>
              <a:t>с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10">
                <a:latin typeface="Microsoft Sans Serif"/>
                <a:cs typeface="Microsoft Sans Serif"/>
              </a:rPr>
              <a:t>кластером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10">
                <a:latin typeface="Microsoft Sans Serif"/>
                <a:cs typeface="Microsoft Sans Serif"/>
              </a:rPr>
              <a:t>серверов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25">
                <a:latin typeface="Microsoft Sans Serif"/>
                <a:cs typeface="Microsoft Sans Serif"/>
              </a:rPr>
              <a:t>1С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50">
                <a:latin typeface="Microsoft Sans Serif"/>
                <a:cs typeface="Microsoft Sans Serif"/>
              </a:rPr>
              <a:t>и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65">
                <a:latin typeface="Microsoft Sans Serif"/>
                <a:cs typeface="Microsoft Sans Serif"/>
              </a:rPr>
              <a:t>СУБД </a:t>
            </a:r>
            <a:r>
              <a:rPr dirty="0" sz="1400">
                <a:latin typeface="Microsoft Sans Serif"/>
                <a:cs typeface="Microsoft Sans Serif"/>
              </a:rPr>
              <a:t>Microsoft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SQL</a:t>
            </a:r>
            <a:r>
              <a:rPr dirty="0" sz="1400" spc="-6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Server</a:t>
            </a:r>
            <a:endParaRPr sz="1400">
              <a:latin typeface="Microsoft Sans Serif"/>
              <a:cs typeface="Microsoft Sans Serif"/>
            </a:endParaRPr>
          </a:p>
          <a:p>
            <a:pPr marL="389255" indent="-376555">
              <a:lnSpc>
                <a:spcPct val="100000"/>
              </a:lnSpc>
              <a:buAutoNum type="arabicPeriod"/>
              <a:tabLst>
                <a:tab pos="389255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Обеспечена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 spc="-25">
                <a:latin typeface="Microsoft Sans Serif"/>
                <a:cs typeface="Microsoft Sans Serif"/>
              </a:rPr>
              <a:t>отказоустойчивость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через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резервирование</a:t>
            </a:r>
            <a:r>
              <a:rPr dirty="0" sz="1400" spc="-3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компонентов</a:t>
            </a:r>
            <a:endParaRPr sz="1400">
              <a:latin typeface="Microsoft Sans Serif"/>
              <a:cs typeface="Microsoft Sans Serif"/>
            </a:endParaRPr>
          </a:p>
          <a:p>
            <a:pPr marL="389255" marR="48260" indent="-377190">
              <a:lnSpc>
                <a:spcPct val="100000"/>
              </a:lnSpc>
              <a:buAutoNum type="arabicPeriod"/>
              <a:tabLst>
                <a:tab pos="389255" algn="l"/>
              </a:tabLst>
            </a:pPr>
            <a:r>
              <a:rPr dirty="0" sz="1400">
                <a:latin typeface="Microsoft Sans Serif"/>
                <a:cs typeface="Microsoft Sans Serif"/>
              </a:rPr>
              <a:t>Реализована</a:t>
            </a:r>
            <a:r>
              <a:rPr dirty="0" sz="1400" spc="3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многоуровневая</a:t>
            </a:r>
            <a:r>
              <a:rPr dirty="0" sz="1400" spc="3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защита</a:t>
            </a:r>
            <a:r>
              <a:rPr dirty="0" sz="1400" spc="3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данных</a:t>
            </a:r>
            <a:r>
              <a:rPr dirty="0" sz="1400" spc="3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(Firewall,</a:t>
            </a:r>
            <a:r>
              <a:rPr dirty="0" sz="1400" spc="3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HTTPS,</a:t>
            </a:r>
            <a:r>
              <a:rPr dirty="0" sz="1400" spc="3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DLP,</a:t>
            </a:r>
            <a:r>
              <a:rPr dirty="0" sz="1400" spc="33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ролевая модель)</a:t>
            </a:r>
            <a:endParaRPr sz="1400">
              <a:latin typeface="Microsoft Sans Serif"/>
              <a:cs typeface="Microsoft Sans Serif"/>
            </a:endParaRPr>
          </a:p>
          <a:p>
            <a:pPr marL="389255" indent="-376555">
              <a:lnSpc>
                <a:spcPct val="100000"/>
              </a:lnSpc>
              <a:buAutoNum type="arabicPeriod"/>
              <a:tabLst>
                <a:tab pos="389255" algn="l"/>
              </a:tabLst>
            </a:pPr>
            <a:r>
              <a:rPr dirty="0" sz="1400">
                <a:latin typeface="Microsoft Sans Serif"/>
                <a:cs typeface="Microsoft Sans Serif"/>
              </a:rPr>
              <a:t>Составлена</a:t>
            </a:r>
            <a:r>
              <a:rPr dirty="0" sz="1400" spc="-4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смета</a:t>
            </a:r>
            <a:r>
              <a:rPr dirty="0" sz="1400" spc="-4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стоимостью</a:t>
            </a:r>
            <a:r>
              <a:rPr dirty="0" sz="1400" spc="-4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7,7</a:t>
            </a:r>
            <a:r>
              <a:rPr dirty="0" sz="1400" spc="-4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млн</a:t>
            </a:r>
            <a:r>
              <a:rPr dirty="0" sz="1400" spc="-4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рублей</a:t>
            </a:r>
            <a:endParaRPr sz="1400">
              <a:latin typeface="Microsoft Sans Serif"/>
              <a:cs typeface="Microsoft Sans Serif"/>
            </a:endParaRPr>
          </a:p>
          <a:p>
            <a:pPr marL="389255" indent="-376555">
              <a:lnSpc>
                <a:spcPct val="100000"/>
              </a:lnSpc>
              <a:buAutoNum type="arabicPeriod"/>
              <a:tabLst>
                <a:tab pos="389255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Архитектура</a:t>
            </a:r>
            <a:r>
              <a:rPr dirty="0" sz="1400" spc="-4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полностью</a:t>
            </a:r>
            <a:r>
              <a:rPr dirty="0" sz="1400" spc="-4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соответствует</a:t>
            </a:r>
            <a:r>
              <a:rPr dirty="0" sz="1400" spc="-4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требованиям</a:t>
            </a:r>
            <a:r>
              <a:rPr dirty="0" sz="1400" spc="-3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Варианта</a:t>
            </a:r>
            <a:r>
              <a:rPr dirty="0" sz="1400" spc="-40">
                <a:latin typeface="Microsoft Sans Serif"/>
                <a:cs typeface="Microsoft Sans Serif"/>
              </a:rPr>
              <a:t> </a:t>
            </a:r>
            <a:r>
              <a:rPr dirty="0" sz="1400" spc="-50">
                <a:latin typeface="Microsoft Sans Serif"/>
                <a:cs typeface="Microsoft Sans Serif"/>
              </a:rPr>
              <a:t>5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31793" y="1406551"/>
            <a:ext cx="3679190" cy="1366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1190">
              <a:lnSpc>
                <a:spcPct val="100000"/>
              </a:lnSpc>
              <a:spcBef>
                <a:spcPts val="100"/>
              </a:spcBef>
            </a:pPr>
            <a:r>
              <a:rPr dirty="0" sz="4400" spc="-10">
                <a:solidFill>
                  <a:srgbClr val="FFFFFF"/>
                </a:solidFill>
              </a:rPr>
              <a:t>Спасибо </a:t>
            </a:r>
            <a:r>
              <a:rPr dirty="0" sz="4400">
                <a:solidFill>
                  <a:srgbClr val="FFFFFF"/>
                </a:solidFill>
              </a:rPr>
              <a:t>за</a:t>
            </a:r>
            <a:r>
              <a:rPr dirty="0" sz="4400" spc="-114">
                <a:solidFill>
                  <a:srgbClr val="FFFFFF"/>
                </a:solidFill>
              </a:rPr>
              <a:t> </a:t>
            </a:r>
            <a:r>
              <a:rPr dirty="0" sz="4400" spc="-10">
                <a:solidFill>
                  <a:srgbClr val="FFFFFF"/>
                </a:solidFill>
              </a:rPr>
              <a:t>внимание!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ais_lab2</dc:title>
  <dcterms:created xsi:type="dcterms:W3CDTF">2026-04-03T16:45:59Z</dcterms:created>
  <dcterms:modified xsi:type="dcterms:W3CDTF">2026-04-03T16:45:59Z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2026-04-03T00:00:00Z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2026-04-03T00:00:00Z</vt:filetime>
  </property>
</Properties>
</file>